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1E2761"/>
                </a:solidFill>
                <a:latin typeface="Calibri"/>
              </a:rPr>
              <a:t>Resolution vs. Detail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Perceived Detail Score (0-100)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B3F4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480p
(0.3MP)</c:v>
                </c:pt>
                <c:pt idx="1">
                  <c:v>720p
(0.9MP)</c:v>
                </c:pt>
                <c:pt idx="2">
                  <c:v>1080p
(2MP)</c:v>
                </c:pt>
                <c:pt idx="3">
                  <c:v>4K
(8MP)</c:v>
                </c:pt>
                <c:pt idx="4">
                  <c:v>8K
(33MP)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</c:v>
                </c:pt>
                <c:pt idx="1">
                  <c:v>52</c:v>
                </c:pt>
                <c:pt idx="2">
                  <c:v>71</c:v>
                </c:pt>
                <c:pt idx="3">
                  <c:v>90</c:v>
                </c:pt>
                <c:pt idx="4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94-4EDD-A286-335BD415AD4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B3F4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12700" cap="flat">
              <a:solidFill>
                <a:srgbClr val="E7ED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B3F4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1E2761"/>
                </a:solidFill>
                <a:latin typeface="Calibri"/>
              </a:rPr>
              <a:t>ISO vs. SNR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Signal-to-Noise Ratio (dB)</c:v>
                </c:pt>
              </c:strCache>
            </c:strRef>
          </c:tx>
          <c:spPr>
            <a:ln w="38100" cap="flat">
              <a:solidFill>
                <a:srgbClr val="E6394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3B3F4C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ISO 100</c:v>
                </c:pt>
                <c:pt idx="1">
                  <c:v>ISO 400</c:v>
                </c:pt>
                <c:pt idx="2">
                  <c:v>ISO 800</c:v>
                </c:pt>
                <c:pt idx="3">
                  <c:v>ISO 1600</c:v>
                </c:pt>
                <c:pt idx="4">
                  <c:v>ISO 3200</c:v>
                </c:pt>
                <c:pt idx="5">
                  <c:v>ISO 6400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37</c:v>
                </c:pt>
                <c:pt idx="2">
                  <c:v>33</c:v>
                </c:pt>
                <c:pt idx="3">
                  <c:v>27</c:v>
                </c:pt>
                <c:pt idx="4">
                  <c:v>21</c:v>
                </c:pt>
                <c:pt idx="5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E8C-40B3-8997-A95AA56A830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B3F4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DF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000000"/>
                    </a:solidFill>
                    <a:latin typeface="Arial"/>
                  </a:rPr>
                  <a:t>SNR (dB)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B3F4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1E2761"/>
                </a:solidFill>
                <a:latin typeface="Calibri"/>
              </a:rPr>
              <a:t>Distortion Magnitude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Typical Severity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B93-405E-B144-D3526766CB4A}"/>
              </c:ext>
            </c:extLst>
          </c:dPt>
          <c:dPt>
            <c:idx val="1"/>
            <c:invertIfNegative val="0"/>
            <c:bubble3D val="0"/>
            <c:spPr>
              <a:solidFill>
                <a:srgbClr val="3B4A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B93-405E-B144-D3526766CB4A}"/>
              </c:ext>
            </c:extLst>
          </c:dPt>
          <c:dPt>
            <c:idx val="2"/>
            <c:invertIfNegative val="0"/>
            <c:bubble3D val="0"/>
            <c:spPr>
              <a:solidFill>
                <a:srgbClr val="6C7F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B93-405E-B144-D3526766CB4A}"/>
              </c:ext>
            </c:extLst>
          </c:dPt>
          <c:dPt>
            <c:idx val="3"/>
            <c:invertIfNegative val="0"/>
            <c:bubble3D val="0"/>
            <c:spPr>
              <a:solidFill>
                <a:srgbClr val="FFB6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B93-405E-B144-D3526766CB4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3B3F4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Barrel</c:v>
                </c:pt>
                <c:pt idx="1">
                  <c:v>Pincushion</c:v>
                </c:pt>
                <c:pt idx="2">
                  <c:v>Chromatic
Aberration</c:v>
                </c:pt>
                <c:pt idx="3">
                  <c:v>Perspective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8</c:v>
                </c:pt>
                <c:pt idx="2">
                  <c:v>6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B93-405E-B144-D3526766CB4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B3F4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DF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sz="950" b="0" i="0" u="none" strike="noStrike">
                    <a:solidFill>
                      <a:srgbClr val="000000"/>
                    </a:solidFill>
                    <a:latin typeface="Arial"/>
                  </a:rPr>
                  <a:t>% of frame width affected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B3F4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1E2761"/>
                </a:solidFill>
                <a:latin typeface="Calibri"/>
              </a:rPr>
              <a:t>Impact vs. Controllability by Factor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Impact on Perceived Quality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B3F4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Acquisition
Conditions</c:v>
                </c:pt>
                <c:pt idx="1">
                  <c:v>Resolution</c:v>
                </c:pt>
                <c:pt idx="2">
                  <c:v>Noise</c:v>
                </c:pt>
                <c:pt idx="3">
                  <c:v>Distortion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60</c:v>
                </c:pt>
                <c:pt idx="2">
                  <c:v>75</c:v>
                </c:pt>
                <c:pt idx="3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8C-4395-AF83-5FBC15140EA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Controllability (post-capture)</c:v>
                </c:pt>
              </c:strCache>
            </c:strRef>
          </c:tx>
          <c:spPr>
            <a:solidFill>
              <a:srgbClr val="FFB62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B3F4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Acquisition
Conditions</c:v>
                </c:pt>
                <c:pt idx="1">
                  <c:v>Resolution</c:v>
                </c:pt>
                <c:pt idx="2">
                  <c:v>Noise</c:v>
                </c:pt>
                <c:pt idx="3">
                  <c:v>Distortion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</c:v>
                </c:pt>
                <c:pt idx="1">
                  <c:v>15</c:v>
                </c:pt>
                <c:pt idx="2">
                  <c:v>55</c:v>
                </c:pt>
                <c:pt idx="3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18C-4395-AF83-5FBC15140E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3F4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E7ED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B3F4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B3F4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7316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6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ACQUISITION  ·  RESOLUTION  ·  NOISE  ·  DISTORTION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94360" y="18745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dirty="0">
                <a:solidFill>
                  <a:srgbClr val="F2F2F3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Visual Integrity: Investigating the Factors Shaping Image Quality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0080" y="30632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Structured Analysis of the Factors That Shape Every Pixel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008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A6E36C-076F-ED96-2625-769CCF9A7BF0}"/>
              </a:ext>
            </a:extLst>
          </p:cNvPr>
          <p:cNvSpPr txBox="1"/>
          <p:nvPr/>
        </p:nvSpPr>
        <p:spPr>
          <a:xfrm>
            <a:off x="7317066" y="4702016"/>
            <a:ext cx="40214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NAME:N.AKSHAYA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REG.NO:192425129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CODE:ITA0509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NAME:COMPUTER VISION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FACULTY:Yuvaraj 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Defining the Problem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the same scene can produce a sharp photo — or an unusable one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Image quality</a:t>
            </a:r>
            <a:r>
              <a:rPr lang="en-US" sz="1600" dirty="0">
                <a:solidFill>
                  <a:srgbClr val="3B3F4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is the degree to which a captured image faithfully and usefully represents the real scene. It is not a single number — it is the combined outcome of </a:t>
            </a:r>
            <a:r>
              <a:rPr lang="en-US" sz="1600" b="1" dirty="0">
                <a:solidFill>
                  <a:srgbClr val="3B3F4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</a:t>
            </a:r>
            <a:r>
              <a:rPr lang="en-US" sz="1600" dirty="0">
                <a:solidFill>
                  <a:srgbClr val="3B3F4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an image is captured, </a:t>
            </a:r>
            <a:r>
              <a:rPr lang="en-US" sz="1600" b="1" dirty="0">
                <a:solidFill>
                  <a:srgbClr val="3B3F4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much</a:t>
            </a:r>
            <a:r>
              <a:rPr lang="en-US" sz="1600" dirty="0">
                <a:solidFill>
                  <a:srgbClr val="3B3F4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detail it carries, </a:t>
            </a:r>
            <a:r>
              <a:rPr lang="en-US" sz="1600" b="1" dirty="0">
                <a:solidFill>
                  <a:srgbClr val="3B3F4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clean</a:t>
            </a:r>
            <a:r>
              <a:rPr lang="en-US" sz="1600" dirty="0">
                <a:solidFill>
                  <a:srgbClr val="3B3F4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the signal is, and </a:t>
            </a:r>
            <a:r>
              <a:rPr lang="en-US" sz="1600" b="1" dirty="0">
                <a:solidFill>
                  <a:srgbClr val="3B3F4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faithfully</a:t>
            </a:r>
            <a:r>
              <a:rPr lang="en-US" sz="1600" dirty="0">
                <a:solidFill>
                  <a:srgbClr val="3B3F4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geometry is preserved.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this deck investigates: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5943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F"/>
            </a:solidFill>
          </a:ln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3B3F4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Given four independent sources of degradation — acquisition conditions, resolution limits, sensor noise, and optical distortion — how does each measurably affect perceived and quantitative image quality, and which is easiest to control?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040880" y="1005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0" y="1554480"/>
            <a:ext cx="2331720" cy="27432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923276" y="18288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0" descr="/home/claude/imgquality/icon_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307" y="1896831"/>
            <a:ext cx="430865" cy="43086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040880" y="2514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Quality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178040" y="288036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Sharp, well-lit,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noise, true geometry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555480" y="1554480"/>
            <a:ext cx="2331720" cy="27432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10437876" y="1828800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1" descr="/home/claude/imgquality/icon_warning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5907" y="1896831"/>
            <a:ext cx="430865" cy="43086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555480" y="2514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9692640" y="288036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Blurry, noisy,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low-res, warped edges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Factors, One Outcome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analytical framework used throughout this presentation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14600" cy="3977640"/>
          </a:xfrm>
          <a:prstGeom prst="roundRect">
            <a:avLst>
              <a:gd name="adj" fmla="val 3273"/>
            </a:avLst>
          </a:prstGeom>
          <a:solidFill>
            <a:srgbClr val="141B47"/>
          </a:solidFill>
          <a:ln w="12700">
            <a:solidFill>
              <a:srgbClr val="2A35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476756" y="2331720"/>
            <a:ext cx="658368" cy="658368"/>
          </a:xfrm>
          <a:prstGeom prst="ellipse">
            <a:avLst/>
          </a:prstGeom>
          <a:solidFill>
            <a:srgbClr val="FFB6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imgquality/icon_sun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60" y="2410724"/>
            <a:ext cx="500360" cy="500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200400"/>
            <a:ext cx="22951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Acquisition</a:t>
            </a:r>
            <a:endParaRPr lang="en-US" sz="16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Conditions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1485900" y="4050792"/>
            <a:ext cx="640080" cy="0"/>
          </a:xfrm>
          <a:prstGeom prst="line">
            <a:avLst/>
          </a:prstGeom>
          <a:noFill/>
          <a:ln w="1905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49808" y="4251960"/>
            <a:ext cx="211226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Lighting, exposure, motion &amp; focus at capture time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8368" y="5486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19272" y="1965960"/>
            <a:ext cx="2514600" cy="3977640"/>
          </a:xfrm>
          <a:prstGeom prst="roundRect">
            <a:avLst>
              <a:gd name="adj" fmla="val 3273"/>
            </a:avLst>
          </a:prstGeom>
          <a:solidFill>
            <a:srgbClr val="141B47"/>
          </a:solidFill>
          <a:ln w="12700">
            <a:solidFill>
              <a:srgbClr val="2A35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247388" y="2331720"/>
            <a:ext cx="658368" cy="658368"/>
          </a:xfrm>
          <a:prstGeom prst="ellipse">
            <a:avLst/>
          </a:prstGeom>
          <a:solidFill>
            <a:srgbClr val="FFB6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/home/claude/imgquality/icon_grid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392" y="2410724"/>
            <a:ext cx="500360" cy="500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29000" y="3200400"/>
            <a:ext cx="22951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</a:t>
            </a:r>
            <a:endParaRPr lang="en-US" sz="1650" dirty="0"/>
          </a:p>
        </p:txBody>
      </p:sp>
      <p:sp>
        <p:nvSpPr>
          <p:cNvPr id="15" name="Shape 11"/>
          <p:cNvSpPr/>
          <p:nvPr/>
        </p:nvSpPr>
        <p:spPr>
          <a:xfrm>
            <a:off x="4256532" y="4050792"/>
            <a:ext cx="640080" cy="0"/>
          </a:xfrm>
          <a:prstGeom prst="line">
            <a:avLst/>
          </a:prstGeom>
          <a:noFill/>
          <a:ln w="1905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3520440" y="4251960"/>
            <a:ext cx="211226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density and the amount of true detail recorded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429000" y="5486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89904" y="1965960"/>
            <a:ext cx="2514600" cy="3977640"/>
          </a:xfrm>
          <a:prstGeom prst="roundRect">
            <a:avLst>
              <a:gd name="adj" fmla="val 3273"/>
            </a:avLst>
          </a:prstGeom>
          <a:solidFill>
            <a:srgbClr val="141B47"/>
          </a:solidFill>
          <a:ln w="12700">
            <a:solidFill>
              <a:srgbClr val="2A35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7018020" y="2331720"/>
            <a:ext cx="658368" cy="658368"/>
          </a:xfrm>
          <a:prstGeom prst="ellipse">
            <a:avLst/>
          </a:prstGeom>
          <a:solidFill>
            <a:srgbClr val="FFB6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/home/claude/imgquality/icon_waves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7024" y="2410724"/>
            <a:ext cx="500360" cy="5003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99632" y="3200400"/>
            <a:ext cx="22951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</a:t>
            </a:r>
            <a:endParaRPr lang="en-US" sz="1650" dirty="0"/>
          </a:p>
        </p:txBody>
      </p:sp>
      <p:sp>
        <p:nvSpPr>
          <p:cNvPr id="22" name="Shape 17"/>
          <p:cNvSpPr/>
          <p:nvPr/>
        </p:nvSpPr>
        <p:spPr>
          <a:xfrm>
            <a:off x="7027164" y="4050792"/>
            <a:ext cx="640080" cy="0"/>
          </a:xfrm>
          <a:prstGeom prst="line">
            <a:avLst/>
          </a:prstGeom>
          <a:noFill/>
          <a:ln w="1905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6291072" y="4251960"/>
            <a:ext cx="211226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signal variation that obscures fine detail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199632" y="5486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860536" y="1965960"/>
            <a:ext cx="2514600" cy="3977640"/>
          </a:xfrm>
          <a:prstGeom prst="roundRect">
            <a:avLst>
              <a:gd name="adj" fmla="val 3273"/>
            </a:avLst>
          </a:prstGeom>
          <a:solidFill>
            <a:srgbClr val="141B47"/>
          </a:solidFill>
          <a:ln w="12700">
            <a:solidFill>
              <a:srgbClr val="2A35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9788652" y="2331720"/>
            <a:ext cx="658368" cy="658368"/>
          </a:xfrm>
          <a:prstGeom prst="ellipse">
            <a:avLst/>
          </a:prstGeom>
          <a:solidFill>
            <a:srgbClr val="FFB6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3" descr="/home/claude/imgquality/icon_broken_1E27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7656" y="2410724"/>
            <a:ext cx="500360" cy="5003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970264" y="3200400"/>
            <a:ext cx="22951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Distortion</a:t>
            </a:r>
            <a:endParaRPr lang="en-US" sz="1650" dirty="0"/>
          </a:p>
        </p:txBody>
      </p:sp>
      <p:sp>
        <p:nvSpPr>
          <p:cNvPr id="29" name="Shape 23"/>
          <p:cNvSpPr/>
          <p:nvPr/>
        </p:nvSpPr>
        <p:spPr>
          <a:xfrm>
            <a:off x="9797796" y="4050792"/>
            <a:ext cx="640080" cy="0"/>
          </a:xfrm>
          <a:prstGeom prst="line">
            <a:avLst/>
          </a:prstGeom>
          <a:noFill/>
          <a:ln w="1905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4"/>
          <p:cNvSpPr/>
          <p:nvPr/>
        </p:nvSpPr>
        <p:spPr>
          <a:xfrm>
            <a:off x="9061704" y="4251960"/>
            <a:ext cx="211226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&amp; optical errors that misplace image content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8970264" y="5486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FRAMEWORK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imgquality/icon_su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0" y="471830"/>
            <a:ext cx="382219" cy="38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Acquisition Conditions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34440" y="8961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in the moment of capture sets the ceiling for everything after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58191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/home/claude/imgquality/icon_light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90" y="1642262"/>
            <a:ext cx="382219" cy="38221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1581912"/>
            <a:ext cx="502920" cy="502920"/>
          </a:xfrm>
          <a:prstGeom prst="ellipse">
            <a:avLst/>
          </a:prstGeom>
          <a:ln w="1905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123444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Illumination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234440" y="1837944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3B3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light forces higher ISO or longer exposure, both of which trade off quality.</a:t>
            </a:r>
            <a:endParaRPr lang="en-US" sz="1180" dirty="0"/>
          </a:p>
        </p:txBody>
      </p:sp>
      <p:sp>
        <p:nvSpPr>
          <p:cNvPr id="11" name="Shape 7"/>
          <p:cNvSpPr/>
          <p:nvPr/>
        </p:nvSpPr>
        <p:spPr>
          <a:xfrm>
            <a:off x="548640" y="254203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/home/claude/imgquality/icon_speed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90" y="2602382"/>
            <a:ext cx="382219" cy="382219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48640" y="2542032"/>
            <a:ext cx="502920" cy="502920"/>
          </a:xfrm>
          <a:prstGeom prst="ellipse">
            <a:avLst/>
          </a:prstGeom>
          <a:ln w="1905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9"/>
          <p:cNvSpPr/>
          <p:nvPr/>
        </p:nvSpPr>
        <p:spPr>
          <a:xfrm>
            <a:off x="1234440" y="2468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Shutter Speed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34440" y="2798064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3B3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slow relative to motion introduces blur from subject or camera movement.</a:t>
            </a:r>
            <a:endParaRPr lang="en-US" sz="1180" dirty="0"/>
          </a:p>
        </p:txBody>
      </p:sp>
      <p:sp>
        <p:nvSpPr>
          <p:cNvPr id="16" name="Shape 11"/>
          <p:cNvSpPr/>
          <p:nvPr/>
        </p:nvSpPr>
        <p:spPr>
          <a:xfrm>
            <a:off x="548640" y="350215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/home/claude/imgquality/icon_iso_1E27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90" y="3562502"/>
            <a:ext cx="382219" cy="382219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48640" y="3502152"/>
            <a:ext cx="502920" cy="502920"/>
          </a:xfrm>
          <a:prstGeom prst="ellipse">
            <a:avLst/>
          </a:prstGeom>
          <a:ln w="1905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/>
          <p:nvPr/>
        </p:nvSpPr>
        <p:spPr>
          <a:xfrm>
            <a:off x="1234440" y="3429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/ Gain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234440" y="3758184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3B3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sensitivity amplifies the signal — and the sensor noise with it.</a:t>
            </a:r>
            <a:endParaRPr lang="en-US" sz="1180" dirty="0"/>
          </a:p>
        </p:txBody>
      </p:sp>
      <p:sp>
        <p:nvSpPr>
          <p:cNvPr id="21" name="Shape 15"/>
          <p:cNvSpPr/>
          <p:nvPr/>
        </p:nvSpPr>
        <p:spPr>
          <a:xfrm>
            <a:off x="548640" y="446227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/home/claude/imgquality/icon_target_1E276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990" y="4522622"/>
            <a:ext cx="382219" cy="382219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548640" y="4462272"/>
            <a:ext cx="502920" cy="502920"/>
          </a:xfrm>
          <a:prstGeom prst="ellipse">
            <a:avLst/>
          </a:prstGeom>
          <a:ln w="1905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7"/>
          <p:cNvSpPr/>
          <p:nvPr/>
        </p:nvSpPr>
        <p:spPr>
          <a:xfrm>
            <a:off x="1234440" y="4389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&amp; Distance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1234440" y="4718304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3B3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focus distance or shallow depth of field softens key regions.</a:t>
            </a:r>
            <a:endParaRPr lang="en-US" sz="1180" dirty="0"/>
          </a:p>
        </p:txBody>
      </p:sp>
      <p:sp>
        <p:nvSpPr>
          <p:cNvPr id="26" name="Text 19"/>
          <p:cNvSpPr/>
          <p:nvPr/>
        </p:nvSpPr>
        <p:spPr>
          <a:xfrm>
            <a:off x="6309360" y="1417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Exposure Triangle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7337738" y="1828800"/>
            <a:ext cx="1623382" cy="2811780"/>
          </a:xfrm>
          <a:prstGeom prst="line">
            <a:avLst/>
          </a:prstGeom>
          <a:noFill/>
          <a:ln w="19050">
            <a:solidFill>
              <a:srgbClr val="B9C6E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1"/>
          <p:cNvSpPr/>
          <p:nvPr/>
        </p:nvSpPr>
        <p:spPr>
          <a:xfrm>
            <a:off x="7337738" y="4640580"/>
            <a:ext cx="3246764" cy="9144"/>
          </a:xfrm>
          <a:prstGeom prst="line">
            <a:avLst/>
          </a:prstGeom>
          <a:noFill/>
          <a:ln w="19050">
            <a:solidFill>
              <a:srgbClr val="B9C6E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2"/>
          <p:cNvSpPr/>
          <p:nvPr/>
        </p:nvSpPr>
        <p:spPr>
          <a:xfrm flipV="1">
            <a:off x="8961120" y="1828800"/>
            <a:ext cx="1623382" cy="2811780"/>
          </a:xfrm>
          <a:prstGeom prst="line">
            <a:avLst/>
          </a:prstGeom>
          <a:noFill/>
          <a:ln w="19050">
            <a:solidFill>
              <a:srgbClr val="B9C6E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8595360" y="14630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/home/claude/imgquality/icon_iso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3142" y="1550822"/>
            <a:ext cx="555955" cy="55595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29600" y="221284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Aperture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6971978" y="4274820"/>
            <a:ext cx="731520" cy="731520"/>
          </a:xfrm>
          <a:prstGeom prst="ellipse">
            <a:avLst/>
          </a:prstGeom>
          <a:solidFill>
            <a:srgbClr val="FFB6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6" descr="/home/claude/imgquality/icon_speed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760" y="4362602"/>
            <a:ext cx="555955" cy="555955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606218" y="502462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Shutter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150" dirty="0"/>
          </a:p>
        </p:txBody>
      </p:sp>
      <p:sp>
        <p:nvSpPr>
          <p:cNvPr id="36" name="Shape 27"/>
          <p:cNvSpPr/>
          <p:nvPr/>
        </p:nvSpPr>
        <p:spPr>
          <a:xfrm>
            <a:off x="10218742" y="42748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7" name="Image 7" descr="/home/claude/imgquality/icon_su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6524" y="4362602"/>
            <a:ext cx="555955" cy="555955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852982" y="502462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</a:t>
            </a:r>
            <a:endParaRPr lang="en-US" sz="1150" dirty="0"/>
          </a:p>
        </p:txBody>
      </p:sp>
      <p:sp>
        <p:nvSpPr>
          <p:cNvPr id="39" name="Shape 29"/>
          <p:cNvSpPr/>
          <p:nvPr/>
        </p:nvSpPr>
        <p:spPr>
          <a:xfrm>
            <a:off x="8458200" y="320040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0"/>
          <p:cNvSpPr/>
          <p:nvPr/>
        </p:nvSpPr>
        <p:spPr>
          <a:xfrm>
            <a:off x="8458200" y="3410712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</a:t>
            </a:r>
            <a:endParaRPr lang="en-US" sz="950" dirty="0"/>
          </a:p>
        </p:txBody>
      </p:sp>
      <p:sp>
        <p:nvSpPr>
          <p:cNvPr id="41" name="Text 3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01 — ACQUISITION</a:t>
            </a:r>
            <a:endParaRPr lang="en-US" sz="900" dirty="0"/>
          </a:p>
        </p:txBody>
      </p:sp>
      <p:sp>
        <p:nvSpPr>
          <p:cNvPr id="42" name="Text 3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imgquality/icon_gri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0" y="471830"/>
            <a:ext cx="382219" cy="38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Resolution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34440" y="8961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pixels — and how much real detail they actually carry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5074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resolution</a:t>
            </a:r>
            <a:r>
              <a:rPr lang="en-US" sz="1300" dirty="0">
                <a:solidFill>
                  <a:srgbClr val="3B3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pixel grid's ability to reproduce fine detail. Beyond raw pixel count, </a:t>
            </a:r>
            <a:r>
              <a:rPr lang="en-US" sz="1300" b="1" dirty="0">
                <a:solidFill>
                  <a:srgbClr val="3B3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density</a:t>
            </a:r>
            <a:r>
              <a:rPr lang="en-US" sz="1300" dirty="0">
                <a:solidFill>
                  <a:srgbClr val="3B3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relative to the scene determines whether detail is genuinely resolved or merely displayed as more pixels (interpolated, not informative).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371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342900" cy="34290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1234440" y="3063240"/>
            <a:ext cx="342900" cy="34290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891540" y="3406140"/>
            <a:ext cx="342900" cy="34290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1577340" y="3406140"/>
            <a:ext cx="342900" cy="34290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48640" y="3749040"/>
            <a:ext cx="342900" cy="34290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1234440" y="3749040"/>
            <a:ext cx="342900" cy="34290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891540" y="4091940"/>
            <a:ext cx="342900" cy="34290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1577340" y="4091940"/>
            <a:ext cx="342900" cy="34290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11480" y="45262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480p)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423160" y="3063240"/>
            <a:ext cx="1371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2423160" y="3063240"/>
            <a:ext cx="171450" cy="17145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2766060" y="3063240"/>
            <a:ext cx="171450" cy="17145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3108960" y="3063240"/>
            <a:ext cx="171450" cy="17145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3451860" y="3063240"/>
            <a:ext cx="171450" cy="17145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2594610" y="3234690"/>
            <a:ext cx="171450" cy="17145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937510" y="3234690"/>
            <a:ext cx="171450" cy="17145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3280410" y="3234690"/>
            <a:ext cx="171450" cy="17145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3623310" y="3234690"/>
            <a:ext cx="171450" cy="17145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2423160" y="3406140"/>
            <a:ext cx="171450" cy="17145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2766060" y="3406140"/>
            <a:ext cx="171450" cy="17145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3108960" y="3406140"/>
            <a:ext cx="171450" cy="17145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3451860" y="3406140"/>
            <a:ext cx="171450" cy="17145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2594610" y="3577590"/>
            <a:ext cx="171450" cy="17145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2937510" y="3577590"/>
            <a:ext cx="171450" cy="17145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3280410" y="3577590"/>
            <a:ext cx="171450" cy="17145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3623310" y="3577590"/>
            <a:ext cx="171450" cy="17145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2423160" y="3749040"/>
            <a:ext cx="171450" cy="17145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2766060" y="3749040"/>
            <a:ext cx="171450" cy="17145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3"/>
          <p:cNvSpPr/>
          <p:nvPr/>
        </p:nvSpPr>
        <p:spPr>
          <a:xfrm>
            <a:off x="3108960" y="3749040"/>
            <a:ext cx="171450" cy="17145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4"/>
          <p:cNvSpPr/>
          <p:nvPr/>
        </p:nvSpPr>
        <p:spPr>
          <a:xfrm>
            <a:off x="3451860" y="3749040"/>
            <a:ext cx="171450" cy="17145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5"/>
          <p:cNvSpPr/>
          <p:nvPr/>
        </p:nvSpPr>
        <p:spPr>
          <a:xfrm>
            <a:off x="2594610" y="3920490"/>
            <a:ext cx="171450" cy="17145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6"/>
          <p:cNvSpPr/>
          <p:nvPr/>
        </p:nvSpPr>
        <p:spPr>
          <a:xfrm>
            <a:off x="2937510" y="3920490"/>
            <a:ext cx="171450" cy="17145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7"/>
          <p:cNvSpPr/>
          <p:nvPr/>
        </p:nvSpPr>
        <p:spPr>
          <a:xfrm>
            <a:off x="3280410" y="3920490"/>
            <a:ext cx="171450" cy="17145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8"/>
          <p:cNvSpPr/>
          <p:nvPr/>
        </p:nvSpPr>
        <p:spPr>
          <a:xfrm>
            <a:off x="3623310" y="3920490"/>
            <a:ext cx="171450" cy="17145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39"/>
          <p:cNvSpPr/>
          <p:nvPr/>
        </p:nvSpPr>
        <p:spPr>
          <a:xfrm>
            <a:off x="2423160" y="4091940"/>
            <a:ext cx="171450" cy="17145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0"/>
          <p:cNvSpPr/>
          <p:nvPr/>
        </p:nvSpPr>
        <p:spPr>
          <a:xfrm>
            <a:off x="2766060" y="4091940"/>
            <a:ext cx="171450" cy="17145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1"/>
          <p:cNvSpPr/>
          <p:nvPr/>
        </p:nvSpPr>
        <p:spPr>
          <a:xfrm>
            <a:off x="3108960" y="4091940"/>
            <a:ext cx="171450" cy="17145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2"/>
          <p:cNvSpPr/>
          <p:nvPr/>
        </p:nvSpPr>
        <p:spPr>
          <a:xfrm>
            <a:off x="3451860" y="4091940"/>
            <a:ext cx="171450" cy="17145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3"/>
          <p:cNvSpPr/>
          <p:nvPr/>
        </p:nvSpPr>
        <p:spPr>
          <a:xfrm>
            <a:off x="2594610" y="4263390"/>
            <a:ext cx="171450" cy="17145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2937510" y="4263390"/>
            <a:ext cx="171450" cy="17145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5"/>
          <p:cNvSpPr/>
          <p:nvPr/>
        </p:nvSpPr>
        <p:spPr>
          <a:xfrm>
            <a:off x="3280410" y="4263390"/>
            <a:ext cx="171450" cy="17145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6"/>
          <p:cNvSpPr/>
          <p:nvPr/>
        </p:nvSpPr>
        <p:spPr>
          <a:xfrm>
            <a:off x="3623310" y="4263390"/>
            <a:ext cx="171450" cy="171450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7"/>
          <p:cNvSpPr/>
          <p:nvPr/>
        </p:nvSpPr>
        <p:spPr>
          <a:xfrm>
            <a:off x="2286000" y="45262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1080p)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4297680" y="3063240"/>
            <a:ext cx="1371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49"/>
          <p:cNvSpPr/>
          <p:nvPr/>
        </p:nvSpPr>
        <p:spPr>
          <a:xfrm>
            <a:off x="4297680" y="3063240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0"/>
          <p:cNvSpPr/>
          <p:nvPr/>
        </p:nvSpPr>
        <p:spPr>
          <a:xfrm>
            <a:off x="4493623" y="3063240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1"/>
          <p:cNvSpPr/>
          <p:nvPr/>
        </p:nvSpPr>
        <p:spPr>
          <a:xfrm>
            <a:off x="4689566" y="3063240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2"/>
          <p:cNvSpPr/>
          <p:nvPr/>
        </p:nvSpPr>
        <p:spPr>
          <a:xfrm>
            <a:off x="4885509" y="3063240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3"/>
          <p:cNvSpPr/>
          <p:nvPr/>
        </p:nvSpPr>
        <p:spPr>
          <a:xfrm>
            <a:off x="5081451" y="3063240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4"/>
          <p:cNvSpPr/>
          <p:nvPr/>
        </p:nvSpPr>
        <p:spPr>
          <a:xfrm>
            <a:off x="5277394" y="3063240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5"/>
          <p:cNvSpPr/>
          <p:nvPr/>
        </p:nvSpPr>
        <p:spPr>
          <a:xfrm>
            <a:off x="5473337" y="3063240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6"/>
          <p:cNvSpPr/>
          <p:nvPr/>
        </p:nvSpPr>
        <p:spPr>
          <a:xfrm>
            <a:off x="4395651" y="3161211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7"/>
          <p:cNvSpPr/>
          <p:nvPr/>
        </p:nvSpPr>
        <p:spPr>
          <a:xfrm>
            <a:off x="4591594" y="3161211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8"/>
          <p:cNvSpPr/>
          <p:nvPr/>
        </p:nvSpPr>
        <p:spPr>
          <a:xfrm>
            <a:off x="4787537" y="3161211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59"/>
          <p:cNvSpPr/>
          <p:nvPr/>
        </p:nvSpPr>
        <p:spPr>
          <a:xfrm>
            <a:off x="4983480" y="3161211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0"/>
          <p:cNvSpPr/>
          <p:nvPr/>
        </p:nvSpPr>
        <p:spPr>
          <a:xfrm>
            <a:off x="5179423" y="3161211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1"/>
          <p:cNvSpPr/>
          <p:nvPr/>
        </p:nvSpPr>
        <p:spPr>
          <a:xfrm>
            <a:off x="5375366" y="3161211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2"/>
          <p:cNvSpPr/>
          <p:nvPr/>
        </p:nvSpPr>
        <p:spPr>
          <a:xfrm>
            <a:off x="5571309" y="3161211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3"/>
          <p:cNvSpPr/>
          <p:nvPr/>
        </p:nvSpPr>
        <p:spPr>
          <a:xfrm>
            <a:off x="4297680" y="3259183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4"/>
          <p:cNvSpPr/>
          <p:nvPr/>
        </p:nvSpPr>
        <p:spPr>
          <a:xfrm>
            <a:off x="4493623" y="3259183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Shape 65"/>
          <p:cNvSpPr/>
          <p:nvPr/>
        </p:nvSpPr>
        <p:spPr>
          <a:xfrm>
            <a:off x="4689566" y="3259183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6"/>
          <p:cNvSpPr/>
          <p:nvPr/>
        </p:nvSpPr>
        <p:spPr>
          <a:xfrm>
            <a:off x="4885509" y="3259183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7"/>
          <p:cNvSpPr/>
          <p:nvPr/>
        </p:nvSpPr>
        <p:spPr>
          <a:xfrm>
            <a:off x="5081451" y="3259183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68"/>
          <p:cNvSpPr/>
          <p:nvPr/>
        </p:nvSpPr>
        <p:spPr>
          <a:xfrm>
            <a:off x="5277394" y="3259183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69"/>
          <p:cNvSpPr/>
          <p:nvPr/>
        </p:nvSpPr>
        <p:spPr>
          <a:xfrm>
            <a:off x="5473337" y="3259183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Shape 70"/>
          <p:cNvSpPr/>
          <p:nvPr/>
        </p:nvSpPr>
        <p:spPr>
          <a:xfrm>
            <a:off x="4395651" y="3357154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71"/>
          <p:cNvSpPr/>
          <p:nvPr/>
        </p:nvSpPr>
        <p:spPr>
          <a:xfrm>
            <a:off x="4591594" y="3357154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2"/>
          <p:cNvSpPr/>
          <p:nvPr/>
        </p:nvSpPr>
        <p:spPr>
          <a:xfrm>
            <a:off x="4787537" y="3357154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3"/>
          <p:cNvSpPr/>
          <p:nvPr/>
        </p:nvSpPr>
        <p:spPr>
          <a:xfrm>
            <a:off x="4983480" y="3357154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74"/>
          <p:cNvSpPr/>
          <p:nvPr/>
        </p:nvSpPr>
        <p:spPr>
          <a:xfrm>
            <a:off x="5179423" y="3357154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5"/>
          <p:cNvSpPr/>
          <p:nvPr/>
        </p:nvSpPr>
        <p:spPr>
          <a:xfrm>
            <a:off x="5375366" y="3357154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Shape 76"/>
          <p:cNvSpPr/>
          <p:nvPr/>
        </p:nvSpPr>
        <p:spPr>
          <a:xfrm>
            <a:off x="5571309" y="3357154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7"/>
          <p:cNvSpPr/>
          <p:nvPr/>
        </p:nvSpPr>
        <p:spPr>
          <a:xfrm>
            <a:off x="4297680" y="3455126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8"/>
          <p:cNvSpPr/>
          <p:nvPr/>
        </p:nvSpPr>
        <p:spPr>
          <a:xfrm>
            <a:off x="4493623" y="3455126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Shape 79"/>
          <p:cNvSpPr/>
          <p:nvPr/>
        </p:nvSpPr>
        <p:spPr>
          <a:xfrm>
            <a:off x="4689566" y="3455126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80"/>
          <p:cNvSpPr/>
          <p:nvPr/>
        </p:nvSpPr>
        <p:spPr>
          <a:xfrm>
            <a:off x="4885509" y="3455126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1"/>
          <p:cNvSpPr/>
          <p:nvPr/>
        </p:nvSpPr>
        <p:spPr>
          <a:xfrm>
            <a:off x="5081451" y="3455126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Shape 82"/>
          <p:cNvSpPr/>
          <p:nvPr/>
        </p:nvSpPr>
        <p:spPr>
          <a:xfrm>
            <a:off x="5277394" y="3455126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Shape 83"/>
          <p:cNvSpPr/>
          <p:nvPr/>
        </p:nvSpPr>
        <p:spPr>
          <a:xfrm>
            <a:off x="5473337" y="3455126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Shape 84"/>
          <p:cNvSpPr/>
          <p:nvPr/>
        </p:nvSpPr>
        <p:spPr>
          <a:xfrm>
            <a:off x="4395651" y="3553097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5"/>
          <p:cNvSpPr/>
          <p:nvPr/>
        </p:nvSpPr>
        <p:spPr>
          <a:xfrm>
            <a:off x="4591594" y="3553097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Shape 86"/>
          <p:cNvSpPr/>
          <p:nvPr/>
        </p:nvSpPr>
        <p:spPr>
          <a:xfrm>
            <a:off x="4787537" y="3553097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7"/>
          <p:cNvSpPr/>
          <p:nvPr/>
        </p:nvSpPr>
        <p:spPr>
          <a:xfrm>
            <a:off x="4983480" y="3553097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8"/>
          <p:cNvSpPr/>
          <p:nvPr/>
        </p:nvSpPr>
        <p:spPr>
          <a:xfrm>
            <a:off x="5179423" y="3553097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89"/>
          <p:cNvSpPr/>
          <p:nvPr/>
        </p:nvSpPr>
        <p:spPr>
          <a:xfrm>
            <a:off x="5375366" y="3553097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90"/>
          <p:cNvSpPr/>
          <p:nvPr/>
        </p:nvSpPr>
        <p:spPr>
          <a:xfrm>
            <a:off x="5571309" y="3553097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Shape 91"/>
          <p:cNvSpPr/>
          <p:nvPr/>
        </p:nvSpPr>
        <p:spPr>
          <a:xfrm>
            <a:off x="4297680" y="3651069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Shape 92"/>
          <p:cNvSpPr/>
          <p:nvPr/>
        </p:nvSpPr>
        <p:spPr>
          <a:xfrm>
            <a:off x="4493623" y="3651069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3"/>
          <p:cNvSpPr/>
          <p:nvPr/>
        </p:nvSpPr>
        <p:spPr>
          <a:xfrm>
            <a:off x="4689566" y="3651069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4"/>
          <p:cNvSpPr/>
          <p:nvPr/>
        </p:nvSpPr>
        <p:spPr>
          <a:xfrm>
            <a:off x="4885509" y="3651069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5"/>
          <p:cNvSpPr/>
          <p:nvPr/>
        </p:nvSpPr>
        <p:spPr>
          <a:xfrm>
            <a:off x="5081451" y="3651069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Shape 96"/>
          <p:cNvSpPr/>
          <p:nvPr/>
        </p:nvSpPr>
        <p:spPr>
          <a:xfrm>
            <a:off x="5277394" y="3651069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7"/>
          <p:cNvSpPr/>
          <p:nvPr/>
        </p:nvSpPr>
        <p:spPr>
          <a:xfrm>
            <a:off x="5473337" y="3651069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Shape 98"/>
          <p:cNvSpPr/>
          <p:nvPr/>
        </p:nvSpPr>
        <p:spPr>
          <a:xfrm>
            <a:off x="4395651" y="3749040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Shape 99"/>
          <p:cNvSpPr/>
          <p:nvPr/>
        </p:nvSpPr>
        <p:spPr>
          <a:xfrm>
            <a:off x="4591594" y="3749040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Shape 100"/>
          <p:cNvSpPr/>
          <p:nvPr/>
        </p:nvSpPr>
        <p:spPr>
          <a:xfrm>
            <a:off x="4787537" y="3749040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101"/>
          <p:cNvSpPr/>
          <p:nvPr/>
        </p:nvSpPr>
        <p:spPr>
          <a:xfrm>
            <a:off x="4983480" y="3749040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Shape 102"/>
          <p:cNvSpPr/>
          <p:nvPr/>
        </p:nvSpPr>
        <p:spPr>
          <a:xfrm>
            <a:off x="5179423" y="3749040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3"/>
          <p:cNvSpPr/>
          <p:nvPr/>
        </p:nvSpPr>
        <p:spPr>
          <a:xfrm>
            <a:off x="5375366" y="3749040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Shape 104"/>
          <p:cNvSpPr/>
          <p:nvPr/>
        </p:nvSpPr>
        <p:spPr>
          <a:xfrm>
            <a:off x="5571309" y="3749040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Shape 105"/>
          <p:cNvSpPr/>
          <p:nvPr/>
        </p:nvSpPr>
        <p:spPr>
          <a:xfrm>
            <a:off x="4297680" y="3847011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Shape 106"/>
          <p:cNvSpPr/>
          <p:nvPr/>
        </p:nvSpPr>
        <p:spPr>
          <a:xfrm>
            <a:off x="4493623" y="3847011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" name="Shape 107"/>
          <p:cNvSpPr/>
          <p:nvPr/>
        </p:nvSpPr>
        <p:spPr>
          <a:xfrm>
            <a:off x="4689566" y="3847011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Shape 108"/>
          <p:cNvSpPr/>
          <p:nvPr/>
        </p:nvSpPr>
        <p:spPr>
          <a:xfrm>
            <a:off x="4885509" y="3847011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09"/>
          <p:cNvSpPr/>
          <p:nvPr/>
        </p:nvSpPr>
        <p:spPr>
          <a:xfrm>
            <a:off x="5081451" y="3847011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Shape 110"/>
          <p:cNvSpPr/>
          <p:nvPr/>
        </p:nvSpPr>
        <p:spPr>
          <a:xfrm>
            <a:off x="5277394" y="3847011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1"/>
          <p:cNvSpPr/>
          <p:nvPr/>
        </p:nvSpPr>
        <p:spPr>
          <a:xfrm>
            <a:off x="5473337" y="3847011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2"/>
          <p:cNvSpPr/>
          <p:nvPr/>
        </p:nvSpPr>
        <p:spPr>
          <a:xfrm>
            <a:off x="4395651" y="3944983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6" name="Shape 113"/>
          <p:cNvSpPr/>
          <p:nvPr/>
        </p:nvSpPr>
        <p:spPr>
          <a:xfrm>
            <a:off x="4591594" y="3944983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Shape 114"/>
          <p:cNvSpPr/>
          <p:nvPr/>
        </p:nvSpPr>
        <p:spPr>
          <a:xfrm>
            <a:off x="4787537" y="3944983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8" name="Shape 115"/>
          <p:cNvSpPr/>
          <p:nvPr/>
        </p:nvSpPr>
        <p:spPr>
          <a:xfrm>
            <a:off x="4983480" y="3944983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Shape 116"/>
          <p:cNvSpPr/>
          <p:nvPr/>
        </p:nvSpPr>
        <p:spPr>
          <a:xfrm>
            <a:off x="5179423" y="3944983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7"/>
          <p:cNvSpPr/>
          <p:nvPr/>
        </p:nvSpPr>
        <p:spPr>
          <a:xfrm>
            <a:off x="5375366" y="3944983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1" name="Shape 118"/>
          <p:cNvSpPr/>
          <p:nvPr/>
        </p:nvSpPr>
        <p:spPr>
          <a:xfrm>
            <a:off x="5571309" y="3944983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9"/>
          <p:cNvSpPr/>
          <p:nvPr/>
        </p:nvSpPr>
        <p:spPr>
          <a:xfrm>
            <a:off x="4297680" y="4042954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3" name="Shape 120"/>
          <p:cNvSpPr/>
          <p:nvPr/>
        </p:nvSpPr>
        <p:spPr>
          <a:xfrm>
            <a:off x="4493623" y="4042954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4" name="Shape 121"/>
          <p:cNvSpPr/>
          <p:nvPr/>
        </p:nvSpPr>
        <p:spPr>
          <a:xfrm>
            <a:off x="4689566" y="4042954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Shape 122"/>
          <p:cNvSpPr/>
          <p:nvPr/>
        </p:nvSpPr>
        <p:spPr>
          <a:xfrm>
            <a:off x="4885509" y="4042954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6" name="Shape 123"/>
          <p:cNvSpPr/>
          <p:nvPr/>
        </p:nvSpPr>
        <p:spPr>
          <a:xfrm>
            <a:off x="5081451" y="4042954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Shape 124"/>
          <p:cNvSpPr/>
          <p:nvPr/>
        </p:nvSpPr>
        <p:spPr>
          <a:xfrm>
            <a:off x="5277394" y="4042954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Shape 125"/>
          <p:cNvSpPr/>
          <p:nvPr/>
        </p:nvSpPr>
        <p:spPr>
          <a:xfrm>
            <a:off x="5473337" y="4042954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Shape 126"/>
          <p:cNvSpPr/>
          <p:nvPr/>
        </p:nvSpPr>
        <p:spPr>
          <a:xfrm>
            <a:off x="4395651" y="4140926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7"/>
          <p:cNvSpPr/>
          <p:nvPr/>
        </p:nvSpPr>
        <p:spPr>
          <a:xfrm>
            <a:off x="4591594" y="4140926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1" name="Shape 128"/>
          <p:cNvSpPr/>
          <p:nvPr/>
        </p:nvSpPr>
        <p:spPr>
          <a:xfrm>
            <a:off x="4787537" y="4140926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2" name="Shape 129"/>
          <p:cNvSpPr/>
          <p:nvPr/>
        </p:nvSpPr>
        <p:spPr>
          <a:xfrm>
            <a:off x="4983480" y="4140926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Shape 130"/>
          <p:cNvSpPr/>
          <p:nvPr/>
        </p:nvSpPr>
        <p:spPr>
          <a:xfrm>
            <a:off x="5179423" y="4140926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4" name="Shape 131"/>
          <p:cNvSpPr/>
          <p:nvPr/>
        </p:nvSpPr>
        <p:spPr>
          <a:xfrm>
            <a:off x="5375366" y="4140926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Shape 132"/>
          <p:cNvSpPr/>
          <p:nvPr/>
        </p:nvSpPr>
        <p:spPr>
          <a:xfrm>
            <a:off x="5571309" y="4140926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6" name="Shape 133"/>
          <p:cNvSpPr/>
          <p:nvPr/>
        </p:nvSpPr>
        <p:spPr>
          <a:xfrm>
            <a:off x="4297680" y="4238897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7" name="Shape 134"/>
          <p:cNvSpPr/>
          <p:nvPr/>
        </p:nvSpPr>
        <p:spPr>
          <a:xfrm>
            <a:off x="4493623" y="4238897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8" name="Shape 135"/>
          <p:cNvSpPr/>
          <p:nvPr/>
        </p:nvSpPr>
        <p:spPr>
          <a:xfrm>
            <a:off x="4689566" y="4238897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9" name="Shape 136"/>
          <p:cNvSpPr/>
          <p:nvPr/>
        </p:nvSpPr>
        <p:spPr>
          <a:xfrm>
            <a:off x="4885509" y="4238897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0" name="Shape 137"/>
          <p:cNvSpPr/>
          <p:nvPr/>
        </p:nvSpPr>
        <p:spPr>
          <a:xfrm>
            <a:off x="5081451" y="4238897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1" name="Shape 138"/>
          <p:cNvSpPr/>
          <p:nvPr/>
        </p:nvSpPr>
        <p:spPr>
          <a:xfrm>
            <a:off x="5277394" y="4238897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2" name="Shape 139"/>
          <p:cNvSpPr/>
          <p:nvPr/>
        </p:nvSpPr>
        <p:spPr>
          <a:xfrm>
            <a:off x="5473337" y="4238897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3" name="Shape 140"/>
          <p:cNvSpPr/>
          <p:nvPr/>
        </p:nvSpPr>
        <p:spPr>
          <a:xfrm>
            <a:off x="4395651" y="4336869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4" name="Shape 141"/>
          <p:cNvSpPr/>
          <p:nvPr/>
        </p:nvSpPr>
        <p:spPr>
          <a:xfrm>
            <a:off x="4591594" y="4336869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5" name="Shape 142"/>
          <p:cNvSpPr/>
          <p:nvPr/>
        </p:nvSpPr>
        <p:spPr>
          <a:xfrm>
            <a:off x="4787537" y="4336869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Shape 143"/>
          <p:cNvSpPr/>
          <p:nvPr/>
        </p:nvSpPr>
        <p:spPr>
          <a:xfrm>
            <a:off x="4983480" y="4336869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7" name="Shape 144"/>
          <p:cNvSpPr/>
          <p:nvPr/>
        </p:nvSpPr>
        <p:spPr>
          <a:xfrm>
            <a:off x="5179423" y="4336869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8" name="Shape 145"/>
          <p:cNvSpPr/>
          <p:nvPr/>
        </p:nvSpPr>
        <p:spPr>
          <a:xfrm>
            <a:off x="5375366" y="4336869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9" name="Shape 146"/>
          <p:cNvSpPr/>
          <p:nvPr/>
        </p:nvSpPr>
        <p:spPr>
          <a:xfrm>
            <a:off x="5571309" y="4336869"/>
            <a:ext cx="97971" cy="97971"/>
          </a:xfrm>
          <a:prstGeom prst="rect">
            <a:avLst/>
          </a:prstGeom>
          <a:solidFill>
            <a:srgbClr val="CADCFC"/>
          </a:solidFill>
          <a:ln w="3175">
            <a:solidFill>
              <a:srgbClr val="E7ED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0" name="Text 147"/>
          <p:cNvSpPr/>
          <p:nvPr/>
        </p:nvSpPr>
        <p:spPr>
          <a:xfrm>
            <a:off x="4160520" y="45262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4K)</a:t>
            </a:r>
            <a:endParaRPr lang="en-US" sz="1100" dirty="0"/>
          </a:p>
        </p:txBody>
      </p:sp>
      <p:sp>
        <p:nvSpPr>
          <p:cNvPr id="151" name="Text 148"/>
          <p:cNvSpPr/>
          <p:nvPr/>
        </p:nvSpPr>
        <p:spPr>
          <a:xfrm>
            <a:off x="548640" y="5074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samples per unit area → more genuine detail captured</a:t>
            </a:r>
            <a:endParaRPr lang="en-US" sz="1050" dirty="0"/>
          </a:p>
        </p:txBody>
      </p:sp>
      <p:graphicFrame>
        <p:nvGraphicFramePr>
          <p:cNvPr id="152" name="Chart 0"/>
          <p:cNvGraphicFramePr/>
          <p:nvPr/>
        </p:nvGraphicFramePr>
        <p:xfrm>
          <a:off x="6263640" y="1325880"/>
          <a:ext cx="534924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3" name="Text 149"/>
          <p:cNvSpPr/>
          <p:nvPr/>
        </p:nvSpPr>
        <p:spPr>
          <a:xfrm>
            <a:off x="6263640" y="466344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diminish past a point — resolution has a real ceiling of usefulness</a:t>
            </a:r>
            <a:endParaRPr lang="en-US" sz="1050" dirty="0"/>
          </a:p>
        </p:txBody>
      </p:sp>
      <p:sp>
        <p:nvSpPr>
          <p:cNvPr id="154" name="Shape 150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5" name="Shape 151"/>
          <p:cNvSpPr/>
          <p:nvPr/>
        </p:nvSpPr>
        <p:spPr>
          <a:xfrm>
            <a:off x="713232" y="5655564"/>
            <a:ext cx="365760" cy="365760"/>
          </a:xfrm>
          <a:prstGeom prst="ellipse">
            <a:avLst/>
          </a:prstGeom>
          <a:solidFill>
            <a:srgbClr val="FFB6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6" name="Image 1" descr="/home/claude/imgquality/icon_insights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23" y="5699455"/>
            <a:ext cx="277978" cy="277978"/>
          </a:xfrm>
          <a:prstGeom prst="rect">
            <a:avLst/>
          </a:prstGeom>
        </p:spPr>
      </p:pic>
      <p:sp>
        <p:nvSpPr>
          <p:cNvPr id="157" name="Text 152"/>
          <p:cNvSpPr/>
          <p:nvPr/>
        </p:nvSpPr>
        <p:spPr>
          <a:xfrm>
            <a:off x="1234440" y="560527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1200" dirty="0">
                <a:solidFill>
                  <a:srgbClr val="3B3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defines the pixel budget — but noise and distortion decide how much of that budget is usable.</a:t>
            </a:r>
            <a:endParaRPr lang="en-US" sz="1200" dirty="0"/>
          </a:p>
        </p:txBody>
      </p:sp>
      <p:sp>
        <p:nvSpPr>
          <p:cNvPr id="158" name="Text 15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02 — RESOLUTION</a:t>
            </a:r>
            <a:endParaRPr lang="en-US" sz="900" dirty="0"/>
          </a:p>
        </p:txBody>
      </p:sp>
      <p:sp>
        <p:nvSpPr>
          <p:cNvPr id="159" name="Text 154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imgquality/icon_wave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0" y="471830"/>
            <a:ext cx="382219" cy="38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Noise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34440" y="8961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signal variation that competes with — and can bury — real detail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53492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685800" y="1636776"/>
            <a:ext cx="274320" cy="274320"/>
          </a:xfrm>
          <a:prstGeom prst="ellipse">
            <a:avLst/>
          </a:prstGeom>
          <a:solidFill>
            <a:srgbClr val="FFB6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097280" y="151790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(Photon) Noise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97280" y="178308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3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Inherent randomness in photon arrival; dominant in low light.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2212848"/>
            <a:ext cx="53492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85800" y="2386584"/>
            <a:ext cx="274320" cy="274320"/>
          </a:xfrm>
          <a:prstGeom prst="ellipse">
            <a:avLst/>
          </a:prstGeom>
          <a:solidFill>
            <a:srgbClr val="FFB6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097280" y="226771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Thermal Noise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97280" y="253288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3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noise from sensor readout and heat; constant floor.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2962656"/>
            <a:ext cx="53492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85800" y="3136392"/>
            <a:ext cx="274320" cy="274320"/>
          </a:xfrm>
          <a:prstGeom prst="ellipse">
            <a:avLst/>
          </a:prstGeom>
          <a:solidFill>
            <a:srgbClr val="FFB6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1097280" y="30175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097280" y="3282696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3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Broadband random variation added throughout the imaging chain.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3712464"/>
            <a:ext cx="53492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685800" y="3886200"/>
            <a:ext cx="274320" cy="274320"/>
          </a:xfrm>
          <a:prstGeom prst="ellipse">
            <a:avLst/>
          </a:prstGeom>
          <a:solidFill>
            <a:srgbClr val="FFB6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1097280" y="376732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Salt-and-Pepper Noise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097280" y="403250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3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extreme-value pixels from transmission or pixel faults.</a:t>
            </a:r>
            <a:endParaRPr lang="en-US" sz="105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6172200" y="1371600"/>
          <a:ext cx="54406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Text 19"/>
          <p:cNvSpPr/>
          <p:nvPr/>
        </p:nvSpPr>
        <p:spPr>
          <a:xfrm>
            <a:off x="6172200" y="416052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gain (ISO) rises, amplified noise erodes the usable signal-to-noise ratio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172200" y="470916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6355080" y="4846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355080" y="5166360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drop of ~6 dB in SNR roughly halves the finest detail level that remains distinguishable from noise — this is why noise reduction and resolution are always evaluated together, not separately.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03 — NOISE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imgquality/icon_broke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0" y="471830"/>
            <a:ext cx="382219" cy="38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Distortion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34440" y="8961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and optical errors that misplace or misrepresent content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94360" y="1554480"/>
            <a:ext cx="1600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94360" y="15544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861060" y="15544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1127760" y="15544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394460" y="15544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1661160" y="15544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1927860" y="15544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94360" y="18211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861060" y="18211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1127760" y="18211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1394460" y="18211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1661160" y="18211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1927860" y="18211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594360" y="20878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861060" y="20878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1127760" y="20878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1394460" y="20878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1661160" y="20878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1927860" y="20878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594360" y="23545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861060" y="23545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1127760" y="23545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1394460" y="23545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1661160" y="23545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1927860" y="23545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594360" y="26212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861060" y="26212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1127760" y="26212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1394460" y="26212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1661160" y="26212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3"/>
          <p:cNvSpPr/>
          <p:nvPr/>
        </p:nvSpPr>
        <p:spPr>
          <a:xfrm>
            <a:off x="1927860" y="26212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4"/>
          <p:cNvSpPr/>
          <p:nvPr/>
        </p:nvSpPr>
        <p:spPr>
          <a:xfrm>
            <a:off x="594360" y="28879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5"/>
          <p:cNvSpPr/>
          <p:nvPr/>
        </p:nvSpPr>
        <p:spPr>
          <a:xfrm>
            <a:off x="861060" y="28879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6"/>
          <p:cNvSpPr/>
          <p:nvPr/>
        </p:nvSpPr>
        <p:spPr>
          <a:xfrm>
            <a:off x="1127760" y="28879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7"/>
          <p:cNvSpPr/>
          <p:nvPr/>
        </p:nvSpPr>
        <p:spPr>
          <a:xfrm>
            <a:off x="1394460" y="28879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8"/>
          <p:cNvSpPr/>
          <p:nvPr/>
        </p:nvSpPr>
        <p:spPr>
          <a:xfrm>
            <a:off x="1661160" y="28879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39"/>
          <p:cNvSpPr/>
          <p:nvPr/>
        </p:nvSpPr>
        <p:spPr>
          <a:xfrm>
            <a:off x="1927860" y="28879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0"/>
          <p:cNvSpPr/>
          <p:nvPr/>
        </p:nvSpPr>
        <p:spPr>
          <a:xfrm>
            <a:off x="594360" y="31546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1"/>
          <p:cNvSpPr/>
          <p:nvPr/>
        </p:nvSpPr>
        <p:spPr>
          <a:xfrm>
            <a:off x="861060" y="31546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2"/>
          <p:cNvSpPr/>
          <p:nvPr/>
        </p:nvSpPr>
        <p:spPr>
          <a:xfrm>
            <a:off x="1127760" y="31546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3"/>
          <p:cNvSpPr/>
          <p:nvPr/>
        </p:nvSpPr>
        <p:spPr>
          <a:xfrm>
            <a:off x="1394460" y="31546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1661160" y="31546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5"/>
          <p:cNvSpPr/>
          <p:nvPr/>
        </p:nvSpPr>
        <p:spPr>
          <a:xfrm>
            <a:off x="1927860" y="3154680"/>
            <a:ext cx="266700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6"/>
          <p:cNvSpPr/>
          <p:nvPr/>
        </p:nvSpPr>
        <p:spPr>
          <a:xfrm>
            <a:off x="594360" y="15544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7"/>
          <p:cNvSpPr/>
          <p:nvPr/>
        </p:nvSpPr>
        <p:spPr>
          <a:xfrm>
            <a:off x="594360" y="18211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8"/>
          <p:cNvSpPr/>
          <p:nvPr/>
        </p:nvSpPr>
        <p:spPr>
          <a:xfrm>
            <a:off x="594360" y="20878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49"/>
          <p:cNvSpPr/>
          <p:nvPr/>
        </p:nvSpPr>
        <p:spPr>
          <a:xfrm>
            <a:off x="594360" y="23545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0"/>
          <p:cNvSpPr/>
          <p:nvPr/>
        </p:nvSpPr>
        <p:spPr>
          <a:xfrm>
            <a:off x="594360" y="26212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1"/>
          <p:cNvSpPr/>
          <p:nvPr/>
        </p:nvSpPr>
        <p:spPr>
          <a:xfrm>
            <a:off x="594360" y="28879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2"/>
          <p:cNvSpPr/>
          <p:nvPr/>
        </p:nvSpPr>
        <p:spPr>
          <a:xfrm>
            <a:off x="861060" y="15544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3"/>
          <p:cNvSpPr/>
          <p:nvPr/>
        </p:nvSpPr>
        <p:spPr>
          <a:xfrm>
            <a:off x="861060" y="18211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4"/>
          <p:cNvSpPr/>
          <p:nvPr/>
        </p:nvSpPr>
        <p:spPr>
          <a:xfrm>
            <a:off x="861060" y="20878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5"/>
          <p:cNvSpPr/>
          <p:nvPr/>
        </p:nvSpPr>
        <p:spPr>
          <a:xfrm>
            <a:off x="861060" y="23545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6"/>
          <p:cNvSpPr/>
          <p:nvPr/>
        </p:nvSpPr>
        <p:spPr>
          <a:xfrm>
            <a:off x="861060" y="26212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7"/>
          <p:cNvSpPr/>
          <p:nvPr/>
        </p:nvSpPr>
        <p:spPr>
          <a:xfrm>
            <a:off x="861060" y="28879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8"/>
          <p:cNvSpPr/>
          <p:nvPr/>
        </p:nvSpPr>
        <p:spPr>
          <a:xfrm>
            <a:off x="1127760" y="15544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59"/>
          <p:cNvSpPr/>
          <p:nvPr/>
        </p:nvSpPr>
        <p:spPr>
          <a:xfrm>
            <a:off x="1127760" y="18211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0"/>
          <p:cNvSpPr/>
          <p:nvPr/>
        </p:nvSpPr>
        <p:spPr>
          <a:xfrm>
            <a:off x="1127760" y="20878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1"/>
          <p:cNvSpPr/>
          <p:nvPr/>
        </p:nvSpPr>
        <p:spPr>
          <a:xfrm>
            <a:off x="1127760" y="23545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2"/>
          <p:cNvSpPr/>
          <p:nvPr/>
        </p:nvSpPr>
        <p:spPr>
          <a:xfrm>
            <a:off x="1127760" y="26212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3"/>
          <p:cNvSpPr/>
          <p:nvPr/>
        </p:nvSpPr>
        <p:spPr>
          <a:xfrm>
            <a:off x="1127760" y="28879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4"/>
          <p:cNvSpPr/>
          <p:nvPr/>
        </p:nvSpPr>
        <p:spPr>
          <a:xfrm>
            <a:off x="1394460" y="15544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Shape 65"/>
          <p:cNvSpPr/>
          <p:nvPr/>
        </p:nvSpPr>
        <p:spPr>
          <a:xfrm>
            <a:off x="1394460" y="18211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6"/>
          <p:cNvSpPr/>
          <p:nvPr/>
        </p:nvSpPr>
        <p:spPr>
          <a:xfrm>
            <a:off x="1394460" y="20878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7"/>
          <p:cNvSpPr/>
          <p:nvPr/>
        </p:nvSpPr>
        <p:spPr>
          <a:xfrm>
            <a:off x="1394460" y="23545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68"/>
          <p:cNvSpPr/>
          <p:nvPr/>
        </p:nvSpPr>
        <p:spPr>
          <a:xfrm>
            <a:off x="1394460" y="26212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69"/>
          <p:cNvSpPr/>
          <p:nvPr/>
        </p:nvSpPr>
        <p:spPr>
          <a:xfrm>
            <a:off x="1394460" y="28879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Shape 70"/>
          <p:cNvSpPr/>
          <p:nvPr/>
        </p:nvSpPr>
        <p:spPr>
          <a:xfrm>
            <a:off x="1661160" y="15544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71"/>
          <p:cNvSpPr/>
          <p:nvPr/>
        </p:nvSpPr>
        <p:spPr>
          <a:xfrm>
            <a:off x="1661160" y="18211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2"/>
          <p:cNvSpPr/>
          <p:nvPr/>
        </p:nvSpPr>
        <p:spPr>
          <a:xfrm>
            <a:off x="1661160" y="20878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3"/>
          <p:cNvSpPr/>
          <p:nvPr/>
        </p:nvSpPr>
        <p:spPr>
          <a:xfrm>
            <a:off x="1661160" y="23545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74"/>
          <p:cNvSpPr/>
          <p:nvPr/>
        </p:nvSpPr>
        <p:spPr>
          <a:xfrm>
            <a:off x="1661160" y="26212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5"/>
          <p:cNvSpPr/>
          <p:nvPr/>
        </p:nvSpPr>
        <p:spPr>
          <a:xfrm>
            <a:off x="1661160" y="28879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Shape 76"/>
          <p:cNvSpPr/>
          <p:nvPr/>
        </p:nvSpPr>
        <p:spPr>
          <a:xfrm>
            <a:off x="1927860" y="15544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7"/>
          <p:cNvSpPr/>
          <p:nvPr/>
        </p:nvSpPr>
        <p:spPr>
          <a:xfrm>
            <a:off x="1927860" y="18211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8"/>
          <p:cNvSpPr/>
          <p:nvPr/>
        </p:nvSpPr>
        <p:spPr>
          <a:xfrm>
            <a:off x="1927860" y="20878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Shape 79"/>
          <p:cNvSpPr/>
          <p:nvPr/>
        </p:nvSpPr>
        <p:spPr>
          <a:xfrm>
            <a:off x="1927860" y="23545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80"/>
          <p:cNvSpPr/>
          <p:nvPr/>
        </p:nvSpPr>
        <p:spPr>
          <a:xfrm>
            <a:off x="1927860" y="26212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1"/>
          <p:cNvSpPr/>
          <p:nvPr/>
        </p:nvSpPr>
        <p:spPr>
          <a:xfrm>
            <a:off x="1927860" y="28879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Shape 82"/>
          <p:cNvSpPr/>
          <p:nvPr/>
        </p:nvSpPr>
        <p:spPr>
          <a:xfrm>
            <a:off x="2194560" y="15544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Shape 83"/>
          <p:cNvSpPr/>
          <p:nvPr/>
        </p:nvSpPr>
        <p:spPr>
          <a:xfrm>
            <a:off x="2194560" y="18211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Shape 84"/>
          <p:cNvSpPr/>
          <p:nvPr/>
        </p:nvSpPr>
        <p:spPr>
          <a:xfrm>
            <a:off x="2194560" y="20878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5"/>
          <p:cNvSpPr/>
          <p:nvPr/>
        </p:nvSpPr>
        <p:spPr>
          <a:xfrm>
            <a:off x="2194560" y="23545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Shape 86"/>
          <p:cNvSpPr/>
          <p:nvPr/>
        </p:nvSpPr>
        <p:spPr>
          <a:xfrm>
            <a:off x="2194560" y="26212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7"/>
          <p:cNvSpPr/>
          <p:nvPr/>
        </p:nvSpPr>
        <p:spPr>
          <a:xfrm>
            <a:off x="2194560" y="2887980"/>
            <a:ext cx="4572" cy="2667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88"/>
          <p:cNvSpPr/>
          <p:nvPr/>
        </p:nvSpPr>
        <p:spPr>
          <a:xfrm>
            <a:off x="457200" y="3227832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Undistorted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</a:t>
            </a:r>
            <a:endParaRPr lang="en-US" sz="1050" dirty="0"/>
          </a:p>
        </p:txBody>
      </p:sp>
      <p:sp>
        <p:nvSpPr>
          <p:cNvPr id="92" name="Shape 89"/>
          <p:cNvSpPr/>
          <p:nvPr/>
        </p:nvSpPr>
        <p:spPr>
          <a:xfrm>
            <a:off x="2514600" y="1554480"/>
            <a:ext cx="1600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90"/>
          <p:cNvSpPr/>
          <p:nvPr/>
        </p:nvSpPr>
        <p:spPr>
          <a:xfrm>
            <a:off x="2653506" y="1654801"/>
            <a:ext cx="194675" cy="38585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Shape 91"/>
          <p:cNvSpPr/>
          <p:nvPr/>
        </p:nvSpPr>
        <p:spPr>
          <a:xfrm>
            <a:off x="2848181" y="1631650"/>
            <a:ext cx="225543" cy="23151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Shape 92"/>
          <p:cNvSpPr/>
          <p:nvPr/>
        </p:nvSpPr>
        <p:spPr>
          <a:xfrm>
            <a:off x="3073723" y="1623933"/>
            <a:ext cx="240977" cy="7717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3"/>
          <p:cNvSpPr/>
          <p:nvPr/>
        </p:nvSpPr>
        <p:spPr>
          <a:xfrm>
            <a:off x="3314700" y="1623933"/>
            <a:ext cx="240977" cy="7717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4"/>
          <p:cNvSpPr/>
          <p:nvPr/>
        </p:nvSpPr>
        <p:spPr>
          <a:xfrm>
            <a:off x="3555677" y="1631650"/>
            <a:ext cx="225543" cy="23151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5"/>
          <p:cNvSpPr/>
          <p:nvPr/>
        </p:nvSpPr>
        <p:spPr>
          <a:xfrm>
            <a:off x="3781219" y="1654801"/>
            <a:ext cx="194675" cy="38585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Shape 96"/>
          <p:cNvSpPr/>
          <p:nvPr/>
        </p:nvSpPr>
        <p:spPr>
          <a:xfrm>
            <a:off x="2614921" y="1862337"/>
            <a:ext cx="207536" cy="25723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7"/>
          <p:cNvSpPr/>
          <p:nvPr/>
        </p:nvSpPr>
        <p:spPr>
          <a:xfrm>
            <a:off x="2822457" y="1846903"/>
            <a:ext cx="238404" cy="1543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Shape 98"/>
          <p:cNvSpPr/>
          <p:nvPr/>
        </p:nvSpPr>
        <p:spPr>
          <a:xfrm>
            <a:off x="3060862" y="1841759"/>
            <a:ext cx="253838" cy="5145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Shape 99"/>
          <p:cNvSpPr/>
          <p:nvPr/>
        </p:nvSpPr>
        <p:spPr>
          <a:xfrm>
            <a:off x="3314700" y="1841759"/>
            <a:ext cx="253838" cy="5145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Shape 100"/>
          <p:cNvSpPr/>
          <p:nvPr/>
        </p:nvSpPr>
        <p:spPr>
          <a:xfrm>
            <a:off x="3568538" y="1846903"/>
            <a:ext cx="238404" cy="1543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101"/>
          <p:cNvSpPr/>
          <p:nvPr/>
        </p:nvSpPr>
        <p:spPr>
          <a:xfrm>
            <a:off x="3806943" y="1862337"/>
            <a:ext cx="207536" cy="25723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Shape 102"/>
          <p:cNvSpPr/>
          <p:nvPr/>
        </p:nvSpPr>
        <p:spPr>
          <a:xfrm>
            <a:off x="2591770" y="2100742"/>
            <a:ext cx="215253" cy="1286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3"/>
          <p:cNvSpPr/>
          <p:nvPr/>
        </p:nvSpPr>
        <p:spPr>
          <a:xfrm>
            <a:off x="2807023" y="2093025"/>
            <a:ext cx="246121" cy="7717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Shape 104"/>
          <p:cNvSpPr/>
          <p:nvPr/>
        </p:nvSpPr>
        <p:spPr>
          <a:xfrm>
            <a:off x="3053145" y="2090452"/>
            <a:ext cx="261555" cy="2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Shape 105"/>
          <p:cNvSpPr/>
          <p:nvPr/>
        </p:nvSpPr>
        <p:spPr>
          <a:xfrm>
            <a:off x="3314700" y="2090452"/>
            <a:ext cx="261555" cy="2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Shape 106"/>
          <p:cNvSpPr/>
          <p:nvPr/>
        </p:nvSpPr>
        <p:spPr>
          <a:xfrm>
            <a:off x="3576255" y="2093025"/>
            <a:ext cx="246121" cy="7717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" name="Shape 107"/>
          <p:cNvSpPr/>
          <p:nvPr/>
        </p:nvSpPr>
        <p:spPr>
          <a:xfrm>
            <a:off x="3822377" y="2100742"/>
            <a:ext cx="215253" cy="1286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Shape 108"/>
          <p:cNvSpPr/>
          <p:nvPr/>
        </p:nvSpPr>
        <p:spPr>
          <a:xfrm>
            <a:off x="2584053" y="2354580"/>
            <a:ext cx="217826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09"/>
          <p:cNvSpPr/>
          <p:nvPr/>
        </p:nvSpPr>
        <p:spPr>
          <a:xfrm>
            <a:off x="2801879" y="2354580"/>
            <a:ext cx="248694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Shape 110"/>
          <p:cNvSpPr/>
          <p:nvPr/>
        </p:nvSpPr>
        <p:spPr>
          <a:xfrm>
            <a:off x="3050572" y="2354580"/>
            <a:ext cx="264128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1"/>
          <p:cNvSpPr/>
          <p:nvPr/>
        </p:nvSpPr>
        <p:spPr>
          <a:xfrm>
            <a:off x="3314700" y="2354580"/>
            <a:ext cx="264128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2"/>
          <p:cNvSpPr/>
          <p:nvPr/>
        </p:nvSpPr>
        <p:spPr>
          <a:xfrm>
            <a:off x="3578828" y="2354580"/>
            <a:ext cx="248694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6" name="Shape 113"/>
          <p:cNvSpPr/>
          <p:nvPr/>
        </p:nvSpPr>
        <p:spPr>
          <a:xfrm>
            <a:off x="3827521" y="2354580"/>
            <a:ext cx="217826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Shape 114"/>
          <p:cNvSpPr/>
          <p:nvPr/>
        </p:nvSpPr>
        <p:spPr>
          <a:xfrm>
            <a:off x="2591770" y="2595557"/>
            <a:ext cx="215253" cy="1286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8" name="Shape 115"/>
          <p:cNvSpPr/>
          <p:nvPr/>
        </p:nvSpPr>
        <p:spPr>
          <a:xfrm>
            <a:off x="2807023" y="2608418"/>
            <a:ext cx="246121" cy="7717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Shape 116"/>
          <p:cNvSpPr/>
          <p:nvPr/>
        </p:nvSpPr>
        <p:spPr>
          <a:xfrm>
            <a:off x="3053145" y="2616135"/>
            <a:ext cx="261555" cy="2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7"/>
          <p:cNvSpPr/>
          <p:nvPr/>
        </p:nvSpPr>
        <p:spPr>
          <a:xfrm>
            <a:off x="3314700" y="2616135"/>
            <a:ext cx="261555" cy="2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1" name="Shape 118"/>
          <p:cNvSpPr/>
          <p:nvPr/>
        </p:nvSpPr>
        <p:spPr>
          <a:xfrm>
            <a:off x="3576255" y="2608418"/>
            <a:ext cx="246121" cy="7717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9"/>
          <p:cNvSpPr/>
          <p:nvPr/>
        </p:nvSpPr>
        <p:spPr>
          <a:xfrm>
            <a:off x="3822377" y="2595557"/>
            <a:ext cx="215253" cy="1286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3" name="Shape 120"/>
          <p:cNvSpPr/>
          <p:nvPr/>
        </p:nvSpPr>
        <p:spPr>
          <a:xfrm>
            <a:off x="2614921" y="2821099"/>
            <a:ext cx="207536" cy="25723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4" name="Shape 121"/>
          <p:cNvSpPr/>
          <p:nvPr/>
        </p:nvSpPr>
        <p:spPr>
          <a:xfrm>
            <a:off x="2822457" y="2846823"/>
            <a:ext cx="238404" cy="1543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Shape 122"/>
          <p:cNvSpPr/>
          <p:nvPr/>
        </p:nvSpPr>
        <p:spPr>
          <a:xfrm>
            <a:off x="3060862" y="2862257"/>
            <a:ext cx="253838" cy="5145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6" name="Shape 123"/>
          <p:cNvSpPr/>
          <p:nvPr/>
        </p:nvSpPr>
        <p:spPr>
          <a:xfrm>
            <a:off x="3314700" y="2862257"/>
            <a:ext cx="253838" cy="5145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Shape 124"/>
          <p:cNvSpPr/>
          <p:nvPr/>
        </p:nvSpPr>
        <p:spPr>
          <a:xfrm>
            <a:off x="3568538" y="2846823"/>
            <a:ext cx="238404" cy="1543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Shape 125"/>
          <p:cNvSpPr/>
          <p:nvPr/>
        </p:nvSpPr>
        <p:spPr>
          <a:xfrm>
            <a:off x="3806943" y="2821099"/>
            <a:ext cx="207536" cy="25723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Shape 126"/>
          <p:cNvSpPr/>
          <p:nvPr/>
        </p:nvSpPr>
        <p:spPr>
          <a:xfrm>
            <a:off x="2653506" y="3015774"/>
            <a:ext cx="194675" cy="38585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7"/>
          <p:cNvSpPr/>
          <p:nvPr/>
        </p:nvSpPr>
        <p:spPr>
          <a:xfrm>
            <a:off x="2848181" y="3054359"/>
            <a:ext cx="225543" cy="23151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1" name="Shape 128"/>
          <p:cNvSpPr/>
          <p:nvPr/>
        </p:nvSpPr>
        <p:spPr>
          <a:xfrm>
            <a:off x="3073723" y="3077510"/>
            <a:ext cx="240977" cy="7717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2" name="Shape 129"/>
          <p:cNvSpPr/>
          <p:nvPr/>
        </p:nvSpPr>
        <p:spPr>
          <a:xfrm>
            <a:off x="3314700" y="3077510"/>
            <a:ext cx="240977" cy="7717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Shape 130"/>
          <p:cNvSpPr/>
          <p:nvPr/>
        </p:nvSpPr>
        <p:spPr>
          <a:xfrm>
            <a:off x="3555677" y="3054359"/>
            <a:ext cx="225543" cy="23151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4" name="Shape 131"/>
          <p:cNvSpPr/>
          <p:nvPr/>
        </p:nvSpPr>
        <p:spPr>
          <a:xfrm>
            <a:off x="3781219" y="3015774"/>
            <a:ext cx="194675" cy="38585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Shape 132"/>
          <p:cNvSpPr/>
          <p:nvPr/>
        </p:nvSpPr>
        <p:spPr>
          <a:xfrm>
            <a:off x="2614921" y="1693386"/>
            <a:ext cx="38585" cy="194675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6" name="Shape 133"/>
          <p:cNvSpPr/>
          <p:nvPr/>
        </p:nvSpPr>
        <p:spPr>
          <a:xfrm>
            <a:off x="2591770" y="1888061"/>
            <a:ext cx="23151" cy="225543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7" name="Shape 134"/>
          <p:cNvSpPr/>
          <p:nvPr/>
        </p:nvSpPr>
        <p:spPr>
          <a:xfrm>
            <a:off x="2584053" y="2113603"/>
            <a:ext cx="7717" cy="240977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8" name="Shape 135"/>
          <p:cNvSpPr/>
          <p:nvPr/>
        </p:nvSpPr>
        <p:spPr>
          <a:xfrm>
            <a:off x="2584053" y="2354580"/>
            <a:ext cx="7717" cy="240977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9" name="Shape 136"/>
          <p:cNvSpPr/>
          <p:nvPr/>
        </p:nvSpPr>
        <p:spPr>
          <a:xfrm>
            <a:off x="2591770" y="2595557"/>
            <a:ext cx="23151" cy="225543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0" name="Shape 137"/>
          <p:cNvSpPr/>
          <p:nvPr/>
        </p:nvSpPr>
        <p:spPr>
          <a:xfrm>
            <a:off x="2614921" y="2821099"/>
            <a:ext cx="38585" cy="194675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1" name="Shape 138"/>
          <p:cNvSpPr/>
          <p:nvPr/>
        </p:nvSpPr>
        <p:spPr>
          <a:xfrm>
            <a:off x="2822457" y="1654801"/>
            <a:ext cx="25723" cy="207536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2" name="Shape 139"/>
          <p:cNvSpPr/>
          <p:nvPr/>
        </p:nvSpPr>
        <p:spPr>
          <a:xfrm>
            <a:off x="2807023" y="1862337"/>
            <a:ext cx="15434" cy="23840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3" name="Shape 140"/>
          <p:cNvSpPr/>
          <p:nvPr/>
        </p:nvSpPr>
        <p:spPr>
          <a:xfrm>
            <a:off x="2801879" y="2100742"/>
            <a:ext cx="5145" cy="253838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4" name="Shape 141"/>
          <p:cNvSpPr/>
          <p:nvPr/>
        </p:nvSpPr>
        <p:spPr>
          <a:xfrm>
            <a:off x="2801879" y="2354580"/>
            <a:ext cx="5145" cy="253838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5" name="Shape 142"/>
          <p:cNvSpPr/>
          <p:nvPr/>
        </p:nvSpPr>
        <p:spPr>
          <a:xfrm>
            <a:off x="2807023" y="2608418"/>
            <a:ext cx="15434" cy="23840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Shape 143"/>
          <p:cNvSpPr/>
          <p:nvPr/>
        </p:nvSpPr>
        <p:spPr>
          <a:xfrm>
            <a:off x="2822457" y="2846823"/>
            <a:ext cx="25723" cy="207536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7" name="Shape 144"/>
          <p:cNvSpPr/>
          <p:nvPr/>
        </p:nvSpPr>
        <p:spPr>
          <a:xfrm>
            <a:off x="3060862" y="1631650"/>
            <a:ext cx="12862" cy="215253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8" name="Shape 145"/>
          <p:cNvSpPr/>
          <p:nvPr/>
        </p:nvSpPr>
        <p:spPr>
          <a:xfrm>
            <a:off x="3053145" y="1846903"/>
            <a:ext cx="7717" cy="246121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9" name="Shape 146"/>
          <p:cNvSpPr/>
          <p:nvPr/>
        </p:nvSpPr>
        <p:spPr>
          <a:xfrm>
            <a:off x="3050572" y="2093025"/>
            <a:ext cx="2572" cy="261555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0" name="Shape 147"/>
          <p:cNvSpPr/>
          <p:nvPr/>
        </p:nvSpPr>
        <p:spPr>
          <a:xfrm>
            <a:off x="3050572" y="2354580"/>
            <a:ext cx="2572" cy="261555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Shape 148"/>
          <p:cNvSpPr/>
          <p:nvPr/>
        </p:nvSpPr>
        <p:spPr>
          <a:xfrm>
            <a:off x="3053145" y="2616135"/>
            <a:ext cx="7717" cy="246121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2" name="Shape 149"/>
          <p:cNvSpPr/>
          <p:nvPr/>
        </p:nvSpPr>
        <p:spPr>
          <a:xfrm>
            <a:off x="3060862" y="2862257"/>
            <a:ext cx="12862" cy="215253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3" name="Shape 150"/>
          <p:cNvSpPr/>
          <p:nvPr/>
        </p:nvSpPr>
        <p:spPr>
          <a:xfrm>
            <a:off x="3314700" y="1623933"/>
            <a:ext cx="4572" cy="217826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4" name="Shape 151"/>
          <p:cNvSpPr/>
          <p:nvPr/>
        </p:nvSpPr>
        <p:spPr>
          <a:xfrm>
            <a:off x="3314700" y="1841759"/>
            <a:ext cx="4572" cy="24869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5" name="Shape 152"/>
          <p:cNvSpPr/>
          <p:nvPr/>
        </p:nvSpPr>
        <p:spPr>
          <a:xfrm>
            <a:off x="3314700" y="2090452"/>
            <a:ext cx="4572" cy="264128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6" name="Shape 153"/>
          <p:cNvSpPr/>
          <p:nvPr/>
        </p:nvSpPr>
        <p:spPr>
          <a:xfrm>
            <a:off x="3314700" y="2354580"/>
            <a:ext cx="4572" cy="264128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7" name="Shape 154"/>
          <p:cNvSpPr/>
          <p:nvPr/>
        </p:nvSpPr>
        <p:spPr>
          <a:xfrm>
            <a:off x="3314700" y="2618708"/>
            <a:ext cx="4572" cy="24869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8" name="Shape 155"/>
          <p:cNvSpPr/>
          <p:nvPr/>
        </p:nvSpPr>
        <p:spPr>
          <a:xfrm>
            <a:off x="3314700" y="2867401"/>
            <a:ext cx="4572" cy="217826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9" name="Shape 156"/>
          <p:cNvSpPr/>
          <p:nvPr/>
        </p:nvSpPr>
        <p:spPr>
          <a:xfrm>
            <a:off x="3555677" y="1631650"/>
            <a:ext cx="12862" cy="215253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0" name="Shape 157"/>
          <p:cNvSpPr/>
          <p:nvPr/>
        </p:nvSpPr>
        <p:spPr>
          <a:xfrm>
            <a:off x="3568538" y="1846903"/>
            <a:ext cx="7717" cy="246121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1" name="Shape 158"/>
          <p:cNvSpPr/>
          <p:nvPr/>
        </p:nvSpPr>
        <p:spPr>
          <a:xfrm>
            <a:off x="3576255" y="2093025"/>
            <a:ext cx="2572" cy="261555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2" name="Shape 159"/>
          <p:cNvSpPr/>
          <p:nvPr/>
        </p:nvSpPr>
        <p:spPr>
          <a:xfrm>
            <a:off x="3576255" y="2354580"/>
            <a:ext cx="2572" cy="261555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3" name="Shape 160"/>
          <p:cNvSpPr/>
          <p:nvPr/>
        </p:nvSpPr>
        <p:spPr>
          <a:xfrm>
            <a:off x="3568538" y="2616135"/>
            <a:ext cx="7717" cy="246121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4" name="Shape 161"/>
          <p:cNvSpPr/>
          <p:nvPr/>
        </p:nvSpPr>
        <p:spPr>
          <a:xfrm>
            <a:off x="3555677" y="2862257"/>
            <a:ext cx="12862" cy="215253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5" name="Shape 162"/>
          <p:cNvSpPr/>
          <p:nvPr/>
        </p:nvSpPr>
        <p:spPr>
          <a:xfrm>
            <a:off x="3781219" y="1654801"/>
            <a:ext cx="25723" cy="207536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6" name="Shape 163"/>
          <p:cNvSpPr/>
          <p:nvPr/>
        </p:nvSpPr>
        <p:spPr>
          <a:xfrm>
            <a:off x="3806943" y="1862337"/>
            <a:ext cx="15434" cy="23840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7" name="Shape 164"/>
          <p:cNvSpPr/>
          <p:nvPr/>
        </p:nvSpPr>
        <p:spPr>
          <a:xfrm>
            <a:off x="3822377" y="2100742"/>
            <a:ext cx="5145" cy="253838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8" name="Shape 165"/>
          <p:cNvSpPr/>
          <p:nvPr/>
        </p:nvSpPr>
        <p:spPr>
          <a:xfrm>
            <a:off x="3822377" y="2354580"/>
            <a:ext cx="5145" cy="253838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9" name="Shape 166"/>
          <p:cNvSpPr/>
          <p:nvPr/>
        </p:nvSpPr>
        <p:spPr>
          <a:xfrm>
            <a:off x="3806943" y="2608418"/>
            <a:ext cx="15434" cy="23840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0" name="Shape 167"/>
          <p:cNvSpPr/>
          <p:nvPr/>
        </p:nvSpPr>
        <p:spPr>
          <a:xfrm>
            <a:off x="3781219" y="2846823"/>
            <a:ext cx="25723" cy="207536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1" name="Shape 168"/>
          <p:cNvSpPr/>
          <p:nvPr/>
        </p:nvSpPr>
        <p:spPr>
          <a:xfrm>
            <a:off x="3975894" y="1693386"/>
            <a:ext cx="38585" cy="194675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2" name="Shape 169"/>
          <p:cNvSpPr/>
          <p:nvPr/>
        </p:nvSpPr>
        <p:spPr>
          <a:xfrm>
            <a:off x="4014479" y="1888061"/>
            <a:ext cx="23151" cy="225543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3" name="Shape 170"/>
          <p:cNvSpPr/>
          <p:nvPr/>
        </p:nvSpPr>
        <p:spPr>
          <a:xfrm>
            <a:off x="4037630" y="2113603"/>
            <a:ext cx="7717" cy="240977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4" name="Shape 171"/>
          <p:cNvSpPr/>
          <p:nvPr/>
        </p:nvSpPr>
        <p:spPr>
          <a:xfrm>
            <a:off x="4037630" y="2354580"/>
            <a:ext cx="7717" cy="240977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5" name="Shape 172"/>
          <p:cNvSpPr/>
          <p:nvPr/>
        </p:nvSpPr>
        <p:spPr>
          <a:xfrm>
            <a:off x="4014479" y="2595557"/>
            <a:ext cx="23151" cy="225543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6" name="Shape 173"/>
          <p:cNvSpPr/>
          <p:nvPr/>
        </p:nvSpPr>
        <p:spPr>
          <a:xfrm>
            <a:off x="3975894" y="2821099"/>
            <a:ext cx="38585" cy="194675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7" name="Text 174"/>
          <p:cNvSpPr/>
          <p:nvPr/>
        </p:nvSpPr>
        <p:spPr>
          <a:xfrm>
            <a:off x="2377440" y="3227832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Barrel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Distortion</a:t>
            </a:r>
            <a:endParaRPr lang="en-US" sz="1050" dirty="0"/>
          </a:p>
        </p:txBody>
      </p:sp>
      <p:sp>
        <p:nvSpPr>
          <p:cNvPr id="178" name="Shape 175"/>
          <p:cNvSpPr/>
          <p:nvPr/>
        </p:nvSpPr>
        <p:spPr>
          <a:xfrm>
            <a:off x="4434840" y="1554480"/>
            <a:ext cx="1600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9" name="Shape 176"/>
          <p:cNvSpPr/>
          <p:nvPr/>
        </p:nvSpPr>
        <p:spPr>
          <a:xfrm>
            <a:off x="4295934" y="1415574"/>
            <a:ext cx="338725" cy="38585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0" name="Shape 177"/>
          <p:cNvSpPr/>
          <p:nvPr/>
        </p:nvSpPr>
        <p:spPr>
          <a:xfrm>
            <a:off x="4634659" y="1454159"/>
            <a:ext cx="307857" cy="23151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1" name="Shape 178"/>
          <p:cNvSpPr/>
          <p:nvPr/>
        </p:nvSpPr>
        <p:spPr>
          <a:xfrm>
            <a:off x="4942517" y="1477310"/>
            <a:ext cx="292423" cy="7717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2" name="Shape 179"/>
          <p:cNvSpPr/>
          <p:nvPr/>
        </p:nvSpPr>
        <p:spPr>
          <a:xfrm>
            <a:off x="5234940" y="1477310"/>
            <a:ext cx="292423" cy="7717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3" name="Shape 180"/>
          <p:cNvSpPr/>
          <p:nvPr/>
        </p:nvSpPr>
        <p:spPr>
          <a:xfrm>
            <a:off x="5527363" y="1454159"/>
            <a:ext cx="307857" cy="23151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4" name="Shape 181"/>
          <p:cNvSpPr/>
          <p:nvPr/>
        </p:nvSpPr>
        <p:spPr>
          <a:xfrm>
            <a:off x="5835221" y="1415574"/>
            <a:ext cx="338725" cy="38585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5" name="Shape 182"/>
          <p:cNvSpPr/>
          <p:nvPr/>
        </p:nvSpPr>
        <p:spPr>
          <a:xfrm>
            <a:off x="4334519" y="1754299"/>
            <a:ext cx="325864" cy="25723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6" name="Shape 183"/>
          <p:cNvSpPr/>
          <p:nvPr/>
        </p:nvSpPr>
        <p:spPr>
          <a:xfrm>
            <a:off x="4660383" y="1780023"/>
            <a:ext cx="294996" cy="1543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7" name="Shape 184"/>
          <p:cNvSpPr/>
          <p:nvPr/>
        </p:nvSpPr>
        <p:spPr>
          <a:xfrm>
            <a:off x="4955378" y="1795457"/>
            <a:ext cx="279562" cy="5145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8" name="Shape 185"/>
          <p:cNvSpPr/>
          <p:nvPr/>
        </p:nvSpPr>
        <p:spPr>
          <a:xfrm>
            <a:off x="5234940" y="1795457"/>
            <a:ext cx="279562" cy="5145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9" name="Shape 186"/>
          <p:cNvSpPr/>
          <p:nvPr/>
        </p:nvSpPr>
        <p:spPr>
          <a:xfrm>
            <a:off x="5514502" y="1780023"/>
            <a:ext cx="294996" cy="1543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0" name="Shape 187"/>
          <p:cNvSpPr/>
          <p:nvPr/>
        </p:nvSpPr>
        <p:spPr>
          <a:xfrm>
            <a:off x="5809497" y="1754299"/>
            <a:ext cx="325864" cy="25723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1" name="Shape 188"/>
          <p:cNvSpPr/>
          <p:nvPr/>
        </p:nvSpPr>
        <p:spPr>
          <a:xfrm>
            <a:off x="4357670" y="2062157"/>
            <a:ext cx="318147" cy="1286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2" name="Shape 189"/>
          <p:cNvSpPr/>
          <p:nvPr/>
        </p:nvSpPr>
        <p:spPr>
          <a:xfrm>
            <a:off x="4675817" y="2075018"/>
            <a:ext cx="287279" cy="7717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3" name="Shape 190"/>
          <p:cNvSpPr/>
          <p:nvPr/>
        </p:nvSpPr>
        <p:spPr>
          <a:xfrm>
            <a:off x="4963095" y="2082735"/>
            <a:ext cx="271845" cy="2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4" name="Shape 191"/>
          <p:cNvSpPr/>
          <p:nvPr/>
        </p:nvSpPr>
        <p:spPr>
          <a:xfrm>
            <a:off x="5234940" y="2082735"/>
            <a:ext cx="271845" cy="2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5" name="Shape 192"/>
          <p:cNvSpPr/>
          <p:nvPr/>
        </p:nvSpPr>
        <p:spPr>
          <a:xfrm>
            <a:off x="5506785" y="2075018"/>
            <a:ext cx="287279" cy="7717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6" name="Shape 193"/>
          <p:cNvSpPr/>
          <p:nvPr/>
        </p:nvSpPr>
        <p:spPr>
          <a:xfrm>
            <a:off x="5794063" y="2062157"/>
            <a:ext cx="318147" cy="1286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7" name="Shape 194"/>
          <p:cNvSpPr/>
          <p:nvPr/>
        </p:nvSpPr>
        <p:spPr>
          <a:xfrm>
            <a:off x="4365387" y="2354580"/>
            <a:ext cx="315574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8" name="Shape 195"/>
          <p:cNvSpPr/>
          <p:nvPr/>
        </p:nvSpPr>
        <p:spPr>
          <a:xfrm>
            <a:off x="4680961" y="2354580"/>
            <a:ext cx="284706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9" name="Shape 196"/>
          <p:cNvSpPr/>
          <p:nvPr/>
        </p:nvSpPr>
        <p:spPr>
          <a:xfrm>
            <a:off x="4965668" y="2354580"/>
            <a:ext cx="269272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0" name="Shape 197"/>
          <p:cNvSpPr/>
          <p:nvPr/>
        </p:nvSpPr>
        <p:spPr>
          <a:xfrm>
            <a:off x="5234940" y="2354580"/>
            <a:ext cx="269272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1" name="Shape 198"/>
          <p:cNvSpPr/>
          <p:nvPr/>
        </p:nvSpPr>
        <p:spPr>
          <a:xfrm>
            <a:off x="5504212" y="2354580"/>
            <a:ext cx="284706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2" name="Shape 199"/>
          <p:cNvSpPr/>
          <p:nvPr/>
        </p:nvSpPr>
        <p:spPr>
          <a:xfrm>
            <a:off x="5788919" y="2354580"/>
            <a:ext cx="315574" cy="4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3" name="Shape 200"/>
          <p:cNvSpPr/>
          <p:nvPr/>
        </p:nvSpPr>
        <p:spPr>
          <a:xfrm>
            <a:off x="4357670" y="2634142"/>
            <a:ext cx="318147" cy="1286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4" name="Shape 201"/>
          <p:cNvSpPr/>
          <p:nvPr/>
        </p:nvSpPr>
        <p:spPr>
          <a:xfrm>
            <a:off x="4675817" y="2626425"/>
            <a:ext cx="287279" cy="7717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5" name="Shape 202"/>
          <p:cNvSpPr/>
          <p:nvPr/>
        </p:nvSpPr>
        <p:spPr>
          <a:xfrm>
            <a:off x="4963095" y="2623852"/>
            <a:ext cx="271845" cy="2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6" name="Shape 203"/>
          <p:cNvSpPr/>
          <p:nvPr/>
        </p:nvSpPr>
        <p:spPr>
          <a:xfrm>
            <a:off x="5234940" y="2623852"/>
            <a:ext cx="271845" cy="25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7" name="Shape 204"/>
          <p:cNvSpPr/>
          <p:nvPr/>
        </p:nvSpPr>
        <p:spPr>
          <a:xfrm>
            <a:off x="5506785" y="2626425"/>
            <a:ext cx="287279" cy="7717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8" name="Shape 205"/>
          <p:cNvSpPr/>
          <p:nvPr/>
        </p:nvSpPr>
        <p:spPr>
          <a:xfrm>
            <a:off x="5794063" y="2634142"/>
            <a:ext cx="318147" cy="1286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9" name="Shape 206"/>
          <p:cNvSpPr/>
          <p:nvPr/>
        </p:nvSpPr>
        <p:spPr>
          <a:xfrm>
            <a:off x="4334519" y="2929137"/>
            <a:ext cx="325864" cy="25723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0" name="Shape 207"/>
          <p:cNvSpPr/>
          <p:nvPr/>
        </p:nvSpPr>
        <p:spPr>
          <a:xfrm>
            <a:off x="4660383" y="2913703"/>
            <a:ext cx="294996" cy="1543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1" name="Shape 208"/>
          <p:cNvSpPr/>
          <p:nvPr/>
        </p:nvSpPr>
        <p:spPr>
          <a:xfrm>
            <a:off x="4955378" y="2908559"/>
            <a:ext cx="279562" cy="5145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2" name="Shape 209"/>
          <p:cNvSpPr/>
          <p:nvPr/>
        </p:nvSpPr>
        <p:spPr>
          <a:xfrm>
            <a:off x="5234940" y="2908559"/>
            <a:ext cx="279562" cy="5145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3" name="Shape 210"/>
          <p:cNvSpPr/>
          <p:nvPr/>
        </p:nvSpPr>
        <p:spPr>
          <a:xfrm>
            <a:off x="5514502" y="2913703"/>
            <a:ext cx="294996" cy="1543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4" name="Shape 211"/>
          <p:cNvSpPr/>
          <p:nvPr/>
        </p:nvSpPr>
        <p:spPr>
          <a:xfrm>
            <a:off x="5809497" y="2929137"/>
            <a:ext cx="325864" cy="25723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5" name="Shape 212"/>
          <p:cNvSpPr/>
          <p:nvPr/>
        </p:nvSpPr>
        <p:spPr>
          <a:xfrm>
            <a:off x="4295934" y="3255001"/>
            <a:ext cx="338725" cy="38585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6" name="Shape 213"/>
          <p:cNvSpPr/>
          <p:nvPr/>
        </p:nvSpPr>
        <p:spPr>
          <a:xfrm>
            <a:off x="4634659" y="3231850"/>
            <a:ext cx="307857" cy="23151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7" name="Shape 214"/>
          <p:cNvSpPr/>
          <p:nvPr/>
        </p:nvSpPr>
        <p:spPr>
          <a:xfrm>
            <a:off x="4942517" y="3224133"/>
            <a:ext cx="292423" cy="7717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8" name="Shape 215"/>
          <p:cNvSpPr/>
          <p:nvPr/>
        </p:nvSpPr>
        <p:spPr>
          <a:xfrm>
            <a:off x="5234940" y="3224133"/>
            <a:ext cx="292423" cy="7717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9" name="Shape 216"/>
          <p:cNvSpPr/>
          <p:nvPr/>
        </p:nvSpPr>
        <p:spPr>
          <a:xfrm>
            <a:off x="5527363" y="3231850"/>
            <a:ext cx="307857" cy="23151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0" name="Shape 217"/>
          <p:cNvSpPr/>
          <p:nvPr/>
        </p:nvSpPr>
        <p:spPr>
          <a:xfrm>
            <a:off x="5835221" y="3255001"/>
            <a:ext cx="338725" cy="38585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1" name="Shape 218"/>
          <p:cNvSpPr/>
          <p:nvPr/>
        </p:nvSpPr>
        <p:spPr>
          <a:xfrm>
            <a:off x="4295934" y="1415574"/>
            <a:ext cx="38585" cy="338725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2" name="Shape 219"/>
          <p:cNvSpPr/>
          <p:nvPr/>
        </p:nvSpPr>
        <p:spPr>
          <a:xfrm>
            <a:off x="4334519" y="1754299"/>
            <a:ext cx="23151" cy="307857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3" name="Shape 220"/>
          <p:cNvSpPr/>
          <p:nvPr/>
        </p:nvSpPr>
        <p:spPr>
          <a:xfrm>
            <a:off x="4357670" y="2062157"/>
            <a:ext cx="7717" cy="292423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4" name="Shape 221"/>
          <p:cNvSpPr/>
          <p:nvPr/>
        </p:nvSpPr>
        <p:spPr>
          <a:xfrm>
            <a:off x="4357670" y="2354580"/>
            <a:ext cx="7717" cy="292423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5" name="Shape 222"/>
          <p:cNvSpPr/>
          <p:nvPr/>
        </p:nvSpPr>
        <p:spPr>
          <a:xfrm>
            <a:off x="4334519" y="2647003"/>
            <a:ext cx="23151" cy="307857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6" name="Shape 223"/>
          <p:cNvSpPr/>
          <p:nvPr/>
        </p:nvSpPr>
        <p:spPr>
          <a:xfrm>
            <a:off x="4295934" y="2954861"/>
            <a:ext cx="38585" cy="338725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7" name="Shape 224"/>
          <p:cNvSpPr/>
          <p:nvPr/>
        </p:nvSpPr>
        <p:spPr>
          <a:xfrm>
            <a:off x="4634659" y="1454159"/>
            <a:ext cx="25723" cy="32586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8" name="Shape 225"/>
          <p:cNvSpPr/>
          <p:nvPr/>
        </p:nvSpPr>
        <p:spPr>
          <a:xfrm>
            <a:off x="4660383" y="1780023"/>
            <a:ext cx="15434" cy="294996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9" name="Shape 226"/>
          <p:cNvSpPr/>
          <p:nvPr/>
        </p:nvSpPr>
        <p:spPr>
          <a:xfrm>
            <a:off x="4675817" y="2075018"/>
            <a:ext cx="5145" cy="27956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0" name="Shape 227"/>
          <p:cNvSpPr/>
          <p:nvPr/>
        </p:nvSpPr>
        <p:spPr>
          <a:xfrm>
            <a:off x="4675817" y="2354580"/>
            <a:ext cx="5145" cy="27956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1" name="Shape 228"/>
          <p:cNvSpPr/>
          <p:nvPr/>
        </p:nvSpPr>
        <p:spPr>
          <a:xfrm>
            <a:off x="4660383" y="2634142"/>
            <a:ext cx="15434" cy="294996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2" name="Shape 229"/>
          <p:cNvSpPr/>
          <p:nvPr/>
        </p:nvSpPr>
        <p:spPr>
          <a:xfrm>
            <a:off x="4634659" y="2929137"/>
            <a:ext cx="25723" cy="32586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3" name="Shape 230"/>
          <p:cNvSpPr/>
          <p:nvPr/>
        </p:nvSpPr>
        <p:spPr>
          <a:xfrm>
            <a:off x="4942517" y="1477310"/>
            <a:ext cx="12862" cy="318147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4" name="Shape 231"/>
          <p:cNvSpPr/>
          <p:nvPr/>
        </p:nvSpPr>
        <p:spPr>
          <a:xfrm>
            <a:off x="4955378" y="1795457"/>
            <a:ext cx="7717" cy="287279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5" name="Shape 232"/>
          <p:cNvSpPr/>
          <p:nvPr/>
        </p:nvSpPr>
        <p:spPr>
          <a:xfrm>
            <a:off x="4963095" y="2082735"/>
            <a:ext cx="2572" cy="271845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6" name="Shape 233"/>
          <p:cNvSpPr/>
          <p:nvPr/>
        </p:nvSpPr>
        <p:spPr>
          <a:xfrm>
            <a:off x="4963095" y="2354580"/>
            <a:ext cx="2572" cy="271845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7" name="Shape 234"/>
          <p:cNvSpPr/>
          <p:nvPr/>
        </p:nvSpPr>
        <p:spPr>
          <a:xfrm>
            <a:off x="4955378" y="2626425"/>
            <a:ext cx="7717" cy="287279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8" name="Shape 235"/>
          <p:cNvSpPr/>
          <p:nvPr/>
        </p:nvSpPr>
        <p:spPr>
          <a:xfrm>
            <a:off x="4942517" y="2913703"/>
            <a:ext cx="12862" cy="318147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9" name="Shape 236"/>
          <p:cNvSpPr/>
          <p:nvPr/>
        </p:nvSpPr>
        <p:spPr>
          <a:xfrm>
            <a:off x="5234940" y="1485027"/>
            <a:ext cx="4572" cy="31557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0" name="Shape 237"/>
          <p:cNvSpPr/>
          <p:nvPr/>
        </p:nvSpPr>
        <p:spPr>
          <a:xfrm>
            <a:off x="5234940" y="1800601"/>
            <a:ext cx="4572" cy="284706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1" name="Shape 238"/>
          <p:cNvSpPr/>
          <p:nvPr/>
        </p:nvSpPr>
        <p:spPr>
          <a:xfrm>
            <a:off x="5234940" y="2085308"/>
            <a:ext cx="4572" cy="2692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2" name="Shape 239"/>
          <p:cNvSpPr/>
          <p:nvPr/>
        </p:nvSpPr>
        <p:spPr>
          <a:xfrm>
            <a:off x="5234940" y="2354580"/>
            <a:ext cx="4572" cy="26927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3" name="Shape 240"/>
          <p:cNvSpPr/>
          <p:nvPr/>
        </p:nvSpPr>
        <p:spPr>
          <a:xfrm>
            <a:off x="5234940" y="2623852"/>
            <a:ext cx="4572" cy="284706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4" name="Shape 241"/>
          <p:cNvSpPr/>
          <p:nvPr/>
        </p:nvSpPr>
        <p:spPr>
          <a:xfrm>
            <a:off x="5234940" y="2908559"/>
            <a:ext cx="4572" cy="31557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5" name="Shape 242"/>
          <p:cNvSpPr/>
          <p:nvPr/>
        </p:nvSpPr>
        <p:spPr>
          <a:xfrm>
            <a:off x="5514502" y="1477310"/>
            <a:ext cx="12862" cy="318147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6" name="Shape 243"/>
          <p:cNvSpPr/>
          <p:nvPr/>
        </p:nvSpPr>
        <p:spPr>
          <a:xfrm>
            <a:off x="5506785" y="1795457"/>
            <a:ext cx="7717" cy="287279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7" name="Shape 244"/>
          <p:cNvSpPr/>
          <p:nvPr/>
        </p:nvSpPr>
        <p:spPr>
          <a:xfrm>
            <a:off x="5504212" y="2082735"/>
            <a:ext cx="2572" cy="271845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8" name="Shape 245"/>
          <p:cNvSpPr/>
          <p:nvPr/>
        </p:nvSpPr>
        <p:spPr>
          <a:xfrm>
            <a:off x="5504212" y="2354580"/>
            <a:ext cx="2572" cy="271845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9" name="Shape 246"/>
          <p:cNvSpPr/>
          <p:nvPr/>
        </p:nvSpPr>
        <p:spPr>
          <a:xfrm>
            <a:off x="5506785" y="2626425"/>
            <a:ext cx="7717" cy="287279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0" name="Shape 247"/>
          <p:cNvSpPr/>
          <p:nvPr/>
        </p:nvSpPr>
        <p:spPr>
          <a:xfrm>
            <a:off x="5514502" y="2913703"/>
            <a:ext cx="12862" cy="318147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1" name="Shape 248"/>
          <p:cNvSpPr/>
          <p:nvPr/>
        </p:nvSpPr>
        <p:spPr>
          <a:xfrm>
            <a:off x="5809497" y="1454159"/>
            <a:ext cx="25723" cy="32586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2" name="Shape 249"/>
          <p:cNvSpPr/>
          <p:nvPr/>
        </p:nvSpPr>
        <p:spPr>
          <a:xfrm>
            <a:off x="5794063" y="1780023"/>
            <a:ext cx="15434" cy="294996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3" name="Shape 250"/>
          <p:cNvSpPr/>
          <p:nvPr/>
        </p:nvSpPr>
        <p:spPr>
          <a:xfrm>
            <a:off x="5788919" y="2075018"/>
            <a:ext cx="5145" cy="27956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4" name="Shape 251"/>
          <p:cNvSpPr/>
          <p:nvPr/>
        </p:nvSpPr>
        <p:spPr>
          <a:xfrm>
            <a:off x="5788919" y="2354580"/>
            <a:ext cx="5145" cy="279562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5" name="Shape 252"/>
          <p:cNvSpPr/>
          <p:nvPr/>
        </p:nvSpPr>
        <p:spPr>
          <a:xfrm>
            <a:off x="5794063" y="2634142"/>
            <a:ext cx="15434" cy="294996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6" name="Shape 253"/>
          <p:cNvSpPr/>
          <p:nvPr/>
        </p:nvSpPr>
        <p:spPr>
          <a:xfrm>
            <a:off x="5809497" y="2929137"/>
            <a:ext cx="25723" cy="32586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7" name="Shape 254"/>
          <p:cNvSpPr/>
          <p:nvPr/>
        </p:nvSpPr>
        <p:spPr>
          <a:xfrm>
            <a:off x="6135361" y="1415574"/>
            <a:ext cx="38585" cy="338725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8" name="Shape 255"/>
          <p:cNvSpPr/>
          <p:nvPr/>
        </p:nvSpPr>
        <p:spPr>
          <a:xfrm>
            <a:off x="6112210" y="1754299"/>
            <a:ext cx="23151" cy="307857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9" name="Shape 256"/>
          <p:cNvSpPr/>
          <p:nvPr/>
        </p:nvSpPr>
        <p:spPr>
          <a:xfrm>
            <a:off x="6104493" y="2062157"/>
            <a:ext cx="7717" cy="292423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0" name="Shape 257"/>
          <p:cNvSpPr/>
          <p:nvPr/>
        </p:nvSpPr>
        <p:spPr>
          <a:xfrm>
            <a:off x="6104493" y="2354580"/>
            <a:ext cx="7717" cy="292423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1" name="Shape 258"/>
          <p:cNvSpPr/>
          <p:nvPr/>
        </p:nvSpPr>
        <p:spPr>
          <a:xfrm>
            <a:off x="6112210" y="2647003"/>
            <a:ext cx="23151" cy="307857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2" name="Shape 259"/>
          <p:cNvSpPr/>
          <p:nvPr/>
        </p:nvSpPr>
        <p:spPr>
          <a:xfrm>
            <a:off x="6135361" y="2954861"/>
            <a:ext cx="38585" cy="338725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3" name="Text 260"/>
          <p:cNvSpPr/>
          <p:nvPr/>
        </p:nvSpPr>
        <p:spPr>
          <a:xfrm>
            <a:off x="4297680" y="3227832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Pincushion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Distortion</a:t>
            </a:r>
            <a:endParaRPr lang="en-US" sz="1050" dirty="0"/>
          </a:p>
        </p:txBody>
      </p:sp>
      <p:sp>
        <p:nvSpPr>
          <p:cNvPr id="264" name="Text 261"/>
          <p:cNvSpPr/>
          <p:nvPr/>
        </p:nvSpPr>
        <p:spPr>
          <a:xfrm>
            <a:off x="594360" y="3611880"/>
            <a:ext cx="5532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Barrel distortion</a:t>
            </a:r>
            <a:r>
              <a:rPr lang="en-US" sz="1150" dirty="0">
                <a:solidFill>
                  <a:srgbClr val="3B3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bows lines outward (common in wide-angle lenses); </a:t>
            </a: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pincushion distortion</a:t>
            </a:r>
            <a:r>
              <a:rPr lang="en-US" sz="1150" dirty="0">
                <a:solidFill>
                  <a:srgbClr val="3B3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pulls lines inward (common in telephoto/zoom lenses). Both displace pixels from their true geometric position.</a:t>
            </a:r>
            <a:endParaRPr lang="en-US" sz="1150" dirty="0"/>
          </a:p>
        </p:txBody>
      </p:sp>
      <p:sp>
        <p:nvSpPr>
          <p:cNvPr id="265" name="Shape 262"/>
          <p:cNvSpPr/>
          <p:nvPr/>
        </p:nvSpPr>
        <p:spPr>
          <a:xfrm>
            <a:off x="594360" y="4754880"/>
            <a:ext cx="5532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6" name="Shape 263"/>
          <p:cNvSpPr/>
          <p:nvPr/>
        </p:nvSpPr>
        <p:spPr>
          <a:xfrm>
            <a:off x="749808" y="4960620"/>
            <a:ext cx="274320" cy="2743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7" name="Text 264"/>
          <p:cNvSpPr/>
          <p:nvPr/>
        </p:nvSpPr>
        <p:spPr>
          <a:xfrm>
            <a:off x="1188720" y="48280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Chromatic Aberration</a:t>
            </a:r>
            <a:endParaRPr lang="en-US" sz="1200" dirty="0"/>
          </a:p>
        </p:txBody>
      </p:sp>
      <p:sp>
        <p:nvSpPr>
          <p:cNvPr id="268" name="Text 265"/>
          <p:cNvSpPr/>
          <p:nvPr/>
        </p:nvSpPr>
        <p:spPr>
          <a:xfrm>
            <a:off x="1188720" y="510235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3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fails to focus all wavelengths to the same point, causing color fringing at edges.</a:t>
            </a:r>
            <a:endParaRPr lang="en-US" sz="1000" dirty="0"/>
          </a:p>
        </p:txBody>
      </p:sp>
      <p:sp>
        <p:nvSpPr>
          <p:cNvPr id="269" name="Shape 266"/>
          <p:cNvSpPr/>
          <p:nvPr/>
        </p:nvSpPr>
        <p:spPr>
          <a:xfrm>
            <a:off x="594360" y="5577840"/>
            <a:ext cx="5532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0" name="Shape 267"/>
          <p:cNvSpPr/>
          <p:nvPr/>
        </p:nvSpPr>
        <p:spPr>
          <a:xfrm>
            <a:off x="749808" y="5783580"/>
            <a:ext cx="274320" cy="2743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1" name="Text 268"/>
          <p:cNvSpPr/>
          <p:nvPr/>
        </p:nvSpPr>
        <p:spPr>
          <a:xfrm>
            <a:off x="1188720" y="56509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Distortion</a:t>
            </a:r>
            <a:endParaRPr lang="en-US" sz="1200" dirty="0"/>
          </a:p>
        </p:txBody>
      </p:sp>
      <p:sp>
        <p:nvSpPr>
          <p:cNvPr id="272" name="Text 269"/>
          <p:cNvSpPr/>
          <p:nvPr/>
        </p:nvSpPr>
        <p:spPr>
          <a:xfrm>
            <a:off x="1188720" y="592531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3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Apparent size/shape shifts caused by camera angle and subject distance, not the lens itself.</a:t>
            </a:r>
            <a:endParaRPr lang="en-US" sz="1000" dirty="0"/>
          </a:p>
        </p:txBody>
      </p:sp>
      <p:graphicFrame>
        <p:nvGraphicFramePr>
          <p:cNvPr id="273" name="Chart 0"/>
          <p:cNvGraphicFramePr/>
          <p:nvPr/>
        </p:nvGraphicFramePr>
        <p:xfrm>
          <a:off x="6537960" y="1554480"/>
          <a:ext cx="50749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4" name="Text 270"/>
          <p:cNvSpPr/>
          <p:nvPr/>
        </p:nvSpPr>
        <p:spPr>
          <a:xfrm>
            <a:off x="6537960" y="557784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values — actual severity depends on lens design and correction software</a:t>
            </a:r>
            <a:endParaRPr lang="en-US" sz="950" dirty="0"/>
          </a:p>
        </p:txBody>
      </p:sp>
      <p:sp>
        <p:nvSpPr>
          <p:cNvPr id="275" name="Text 27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04 — DISTORTION</a:t>
            </a:r>
            <a:endParaRPr lang="en-US" sz="900" dirty="0"/>
          </a:p>
        </p:txBody>
      </p:sp>
      <p:sp>
        <p:nvSpPr>
          <p:cNvPr id="276" name="Text 27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imgquality/icon_compar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0" y="471830"/>
            <a:ext cx="382219" cy="38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Impact Analysis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34440" y="8961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all four factors on impact severity vs. how controllable they are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417320"/>
          <a:ext cx="6675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7498080" y="1417320"/>
            <a:ext cx="4160520" cy="4480560"/>
          </a:xfrm>
          <a:prstGeom prst="roundRect">
            <a:avLst>
              <a:gd name="adj" fmla="val 197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7818120" y="16916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7818120" y="2276856"/>
            <a:ext cx="201168" cy="201168"/>
          </a:xfrm>
          <a:prstGeom prst="ellipse">
            <a:avLst/>
          </a:prstGeom>
          <a:solidFill>
            <a:srgbClr val="FFB6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8156448" y="21488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conditions 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highest impact but the lowest post-capture controllability — get it right at capture time.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818120" y="3191256"/>
            <a:ext cx="201168" cy="201168"/>
          </a:xfrm>
          <a:prstGeom prst="ellipse">
            <a:avLst/>
          </a:prstGeom>
          <a:solidFill>
            <a:srgbClr val="FFB6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8156448" y="30632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Distortion 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highly correctable via lens profiles and software, despite being visually obvious.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818120" y="4105656"/>
            <a:ext cx="201168" cy="201168"/>
          </a:xfrm>
          <a:prstGeom prst="ellipse">
            <a:avLst/>
          </a:prstGeom>
          <a:solidFill>
            <a:srgbClr val="FFB6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8156448" y="39776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in the middle: partially fixable, but correction trades off fine detail.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818120" y="5020056"/>
            <a:ext cx="201168" cy="201168"/>
          </a:xfrm>
          <a:prstGeom prst="ellipse">
            <a:avLst/>
          </a:prstGeom>
          <a:solidFill>
            <a:srgbClr val="FFB6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8156448" y="48920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fixed at capture; it cannot be meaningfully recovered afterward.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CROSS-FACTOR COMPARISON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822</Words>
  <Application>Microsoft Office PowerPoint</Application>
  <PresentationFormat>Widescreen</PresentationFormat>
  <Paragraphs>127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akshaya nallani</cp:lastModifiedBy>
  <cp:revision>2</cp:revision>
  <dcterms:created xsi:type="dcterms:W3CDTF">2026-07-22T09:20:24Z</dcterms:created>
  <dcterms:modified xsi:type="dcterms:W3CDTF">2026-07-23T12:02:05Z</dcterms:modified>
</cp:coreProperties>
</file>